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0" r:id="rId13"/>
    <p:sldId id="267" r:id="rId14"/>
    <p:sldId id="268" r:id="rId15"/>
  </p:sldIdLst>
  <p:sldSz cx="12192000" cy="6858000"/>
  <p:notesSz cx="6858000" cy="9144000"/>
  <p:embeddedFontLst>
    <p:embeddedFont>
      <p:font typeface="JetBrains Mono"/>
      <p:bold r:id="rId17"/>
    </p:embeddedFont>
    <p:embeddedFont>
      <p:font typeface="Plus Jakarta Sans"/>
      <p:bold r:id="rId1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284" y="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DFDAA1-5FF0-4DC0-BEAC-7E25AD8EE378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234B45-5EFE-401A-9161-9E2AE13ECF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43184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234B45-5EFE-401A-9161-9E2AE13ECFD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3485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8953500" y="542925"/>
            <a:ext cx="2628900" cy="32385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5067300"/>
            <a:ext cx="2600325" cy="1257300"/>
          </a:xfrm>
          <a:prstGeom prst="roundRect">
            <a:avLst>
              <a:gd name="adj" fmla="val 9090"/>
            </a:avLst>
          </a:prstGeom>
          <a:solidFill>
            <a:srgbClr val="13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400425" y="5067300"/>
            <a:ext cx="2600325" cy="1257300"/>
          </a:xfrm>
          <a:prstGeom prst="roundRect">
            <a:avLst>
              <a:gd name="adj" fmla="val 9090"/>
            </a:avLst>
          </a:prstGeom>
          <a:solidFill>
            <a:srgbClr val="13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191250" y="5067300"/>
            <a:ext cx="2600325" cy="1257300"/>
          </a:xfrm>
          <a:prstGeom prst="roundRect">
            <a:avLst>
              <a:gd name="adj" fmla="val 9090"/>
            </a:avLst>
          </a:prstGeom>
          <a:solidFill>
            <a:srgbClr val="13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982075" y="5067300"/>
            <a:ext cx="2600325" cy="1257300"/>
          </a:xfrm>
          <a:prstGeom prst="roundRect">
            <a:avLst>
              <a:gd name="adj" fmla="val 9090"/>
            </a:avLst>
          </a:prstGeom>
          <a:solidFill>
            <a:srgbClr val="13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533400"/>
            <a:ext cx="342900" cy="3429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325" y="619125"/>
            <a:ext cx="171450" cy="1714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9600" y="2103239"/>
            <a:ext cx="10601325" cy="1051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140"/>
              </a:lnSpc>
            </a:pPr>
            <a:r>
              <a:rPr sz="3450" b="1" i="0" u="none">
                <a:solidFill>
                  <a:srgbClr val="F8FAFC"/>
                </a:solidFill>
                <a:latin typeface="Plus Jakarta Sans"/>
              </a:rPr>
              <a:t>Resource-Shared 4-Bit ALU: Gate-Level Design, Verification &amp; Implementation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3306960"/>
            <a:ext cx="8477250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0" i="0" u="none">
                <a:solidFill>
                  <a:srgbClr val="94A3B8"/>
                </a:solidFill>
                <a:latin typeface="Plus Jakarta Sans"/>
              </a:rPr>
              <a:t>Comprehensive architecture specification, self-checking testbench verification, and FPGA physical synthesis on AMD Xilinx Artix-7.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6800" y="619125"/>
            <a:ext cx="1364156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38BDF8"/>
                </a:solidFill>
                <a:latin typeface="Plus Jakarta Sans"/>
              </a:rPr>
              <a:t>P1 PROJECT • 4-BIT </a:t>
            </a:r>
            <a:r>
              <a:rPr lang="en-US" sz="1050" b="1" dirty="0">
                <a:solidFill>
                  <a:srgbClr val="38BDF8"/>
                </a:solidFill>
                <a:latin typeface="Plus Jakarta Sans"/>
              </a:rPr>
              <a:t>ALU</a:t>
            </a:r>
            <a:r>
              <a:rPr sz="1050" b="1" i="0" u="none" dirty="0">
                <a:solidFill>
                  <a:srgbClr val="38BDF8"/>
                </a:solidFill>
                <a:latin typeface="Plus Jakarta Sans"/>
              </a:rPr>
              <a:t>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98756" y="619125"/>
            <a:ext cx="2322752" cy="1692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sz="1050" b="0" i="0" u="none" dirty="0" err="1">
                <a:solidFill>
                  <a:schemeClr val="bg1"/>
                </a:solidFill>
                <a:latin typeface="JetBrains Mono"/>
              </a:rPr>
              <a:t>Vivado</a:t>
            </a:r>
            <a:r>
              <a:rPr sz="1050" b="0" i="0" u="none" dirty="0">
                <a:solidFill>
                  <a:schemeClr val="bg1"/>
                </a:solidFill>
                <a:latin typeface="JetBrains Mono"/>
              </a:rPr>
              <a:t> 202</a:t>
            </a:r>
            <a:r>
              <a:rPr lang="en-US" sz="1050" b="0" i="0" u="none" dirty="0">
                <a:solidFill>
                  <a:schemeClr val="bg1"/>
                </a:solidFill>
                <a:latin typeface="JetBrains Mono"/>
              </a:rPr>
              <a:t>6.1</a:t>
            </a:r>
            <a:r>
              <a:rPr sz="1050" b="0" i="0" u="none" dirty="0">
                <a:solidFill>
                  <a:schemeClr val="bg1"/>
                </a:solidFill>
                <a:latin typeface="JetBrains Mono"/>
              </a:rPr>
              <a:t> • Artix-7</a:t>
            </a:r>
            <a:r>
              <a:rPr lang="en-US" sz="1050" b="0" i="0" u="none" dirty="0">
                <a:solidFill>
                  <a:schemeClr val="bg1"/>
                </a:solidFill>
                <a:latin typeface="JetBrains Mono"/>
              </a:rPr>
              <a:t> </a:t>
            </a:r>
            <a:r>
              <a:rPr lang="en-US" sz="1100" dirty="0">
                <a:solidFill>
                  <a:schemeClr val="bg1"/>
                </a:solidFill>
              </a:rPr>
              <a:t>xc7a35tcpg236-1 </a:t>
            </a:r>
            <a:endParaRPr sz="1100" b="0" i="0" u="none" dirty="0">
              <a:solidFill>
                <a:schemeClr val="bg1"/>
              </a:solidFill>
              <a:latin typeface="JetBrains Mono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38200" y="5257800"/>
            <a:ext cx="2678906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4748B"/>
                </a:solidFill>
                <a:latin typeface="Plus Jakarta Sans"/>
              </a:rPr>
              <a:t>STUDENT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5486400"/>
            <a:ext cx="2678906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 dirty="0">
                <a:solidFill>
                  <a:srgbClr val="F1F5F9"/>
                </a:solidFill>
                <a:latin typeface="Plus Jakarta Sans"/>
              </a:rPr>
              <a:t>Tran Quan Bao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200" y="5743575"/>
            <a:ext cx="2678906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38BDF8"/>
                </a:solidFill>
                <a:latin typeface="JetBrains Mono"/>
              </a:rPr>
              <a:t>ID: SE190570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29025" y="5257800"/>
            <a:ext cx="2678906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4748B"/>
                </a:solidFill>
                <a:latin typeface="Plus Jakarta Sans"/>
              </a:rPr>
              <a:t>DEPARTMENT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29025" y="5486400"/>
            <a:ext cx="2238375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 dirty="0">
                <a:solidFill>
                  <a:srgbClr val="F1F5F9"/>
                </a:solidFill>
                <a:latin typeface="Plus Jakarta Sans"/>
              </a:rPr>
              <a:t>Microelectronics &amp; IC Design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26644" y="5791200"/>
            <a:ext cx="2678906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 dirty="0">
                <a:solidFill>
                  <a:srgbClr val="94A3B8"/>
                </a:solidFill>
                <a:latin typeface="Plus Jakarta Sans"/>
              </a:rPr>
              <a:t>FPT University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9850" y="5257800"/>
            <a:ext cx="2678906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4748B"/>
                </a:solidFill>
                <a:latin typeface="Plus Jakarta Sans"/>
              </a:rPr>
              <a:t>VERIFICATION STATUS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850" y="5486400"/>
            <a:ext cx="2678906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0B981"/>
                </a:solidFill>
                <a:latin typeface="Plus Jakarta Sans"/>
              </a:rPr>
              <a:t>100% Tests Passed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9850" y="5743575"/>
            <a:ext cx="2678906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94A3B8"/>
                </a:solidFill>
                <a:latin typeface="JetBrains Mono"/>
              </a:rPr>
              <a:t>0 Simulation Errors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10675" y="5257800"/>
            <a:ext cx="2678906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4748B"/>
                </a:solidFill>
                <a:latin typeface="Plus Jakarta Sans"/>
              </a:rPr>
              <a:t>DEVICE UTILIZATION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10675" y="5486400"/>
            <a:ext cx="2678906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59E0B"/>
                </a:solidFill>
                <a:latin typeface="Plus Jakarta Sans"/>
              </a:rPr>
              <a:t>60 LUTs • 18 FFs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10675" y="5743575"/>
            <a:ext cx="2678906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94A3B8"/>
                </a:solidFill>
                <a:latin typeface="JetBrains Mono"/>
              </a:rPr>
              <a:t>Ultra-Compact Area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D8EE900-6639-9AC3-94D9-7686790D8E13}"/>
              </a:ext>
            </a:extLst>
          </p:cNvPr>
          <p:cNvSpPr txBox="1"/>
          <p:nvPr/>
        </p:nvSpPr>
        <p:spPr>
          <a:xfrm>
            <a:off x="468595" y="904101"/>
            <a:ext cx="609702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BED7FF"/>
                </a:solidFill>
              </a:defRPr>
            </a:pPr>
            <a:r>
              <a:rPr lang="fr-FR" sz="1200" dirty="0"/>
              <a:t>P1 Project: ALU_4bit_SE190570| </a:t>
            </a:r>
            <a:r>
              <a:rPr lang="fr-FR" sz="1200" dirty="0" err="1"/>
              <a:t>Tran</a:t>
            </a:r>
            <a:r>
              <a:rPr lang="fr-FR" sz="1200" dirty="0"/>
              <a:t> Quan Bao (SE190570) | AMD </a:t>
            </a:r>
            <a:r>
              <a:rPr lang="fr-FR" sz="1200" dirty="0" err="1"/>
              <a:t>Xilinx</a:t>
            </a:r>
            <a:r>
              <a:rPr lang="fr-FR" sz="1200" dirty="0"/>
              <a:t> </a:t>
            </a:r>
            <a:r>
              <a:rPr lang="fr-FR" sz="1200" dirty="0" err="1"/>
              <a:t>Vivado</a:t>
            </a:r>
            <a:r>
              <a:rPr lang="fr-FR" sz="1200" dirty="0"/>
              <a:t> 2026.1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43353" y="2254316"/>
            <a:ext cx="5353050" cy="3434602"/>
          </a:xfrm>
          <a:prstGeom prst="roundRect">
            <a:avLst>
              <a:gd name="adj" fmla="val 469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29350" y="1880592"/>
            <a:ext cx="5353050" cy="3992165"/>
          </a:xfrm>
          <a:prstGeom prst="roundRect">
            <a:avLst>
              <a:gd name="adj" fmla="val 381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534150" y="2718792"/>
            <a:ext cx="4743450" cy="1348382"/>
          </a:xfrm>
          <a:prstGeom prst="roundRect">
            <a:avLst>
              <a:gd name="adj" fmla="val 7064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534150" y="4219575"/>
            <a:ext cx="4743450" cy="1348382"/>
          </a:xfrm>
          <a:prstGeom prst="roundRect">
            <a:avLst>
              <a:gd name="adj" fmla="val 7064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556867"/>
            <a:ext cx="342900" cy="3429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4150" y="2185392"/>
            <a:ext cx="342900" cy="3429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125" y="2652117"/>
            <a:ext cx="171450" cy="1524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0" y="2280642"/>
            <a:ext cx="152400" cy="152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PART A (1/3) • HARDWARE ARCHITECTURE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Module Hierarchy &amp; 30-Pin I/O Interface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590204"/>
            <a:ext cx="2261260" cy="25391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en-US" sz="1650" b="1" dirty="0">
                <a:solidFill>
                  <a:srgbClr val="0F172A"/>
                </a:solidFill>
                <a:latin typeface="Plus Jakarta Sans"/>
              </a:rPr>
              <a:t>7</a:t>
            </a:r>
            <a:r>
              <a:rPr sz="1650" b="1" i="0" u="none" dirty="0">
                <a:solidFill>
                  <a:srgbClr val="0F172A"/>
                </a:solidFill>
                <a:latin typeface="Plus Jakarta Sans"/>
              </a:rPr>
              <a:t> Submodules (</a:t>
            </a:r>
            <a:r>
              <a:rPr lang="en-US" sz="1600" b="1" dirty="0">
                <a:solidFill>
                  <a:schemeClr val="accent1"/>
                </a:solidFill>
              </a:rPr>
              <a:t>alu_4bit.v</a:t>
            </a:r>
            <a:r>
              <a:rPr sz="1650" b="1" i="0" u="none" dirty="0">
                <a:solidFill>
                  <a:srgbClr val="0F172A"/>
                </a:solidFill>
                <a:latin typeface="Plus Jakarta Sans"/>
              </a:rPr>
              <a:t>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090267"/>
            <a:ext cx="5929312" cy="2399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 dirty="0">
                <a:solidFill>
                  <a:srgbClr val="0F172A"/>
                </a:solidFill>
                <a:latin typeface="Plus Jakarta Sans"/>
              </a:rPr>
              <a:t>ctrl:</a:t>
            </a:r>
            <a:r>
              <a:rPr sz="1350" b="0" i="0" u="none" dirty="0">
                <a:solidFill>
                  <a:srgbClr val="334155"/>
                </a:solidFill>
                <a:latin typeface="Plus Jakarta Sans"/>
              </a:rPr>
              <a:t> Opcode instruction decoder unit.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463528"/>
            <a:ext cx="5929312" cy="2399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0F172A"/>
                </a:solidFill>
                <a:latin typeface="Plus Jakarta Sans"/>
              </a:rPr>
              <a:t>adder_sub_u:</a:t>
            </a:r>
            <a:r>
              <a:rPr sz="1350" b="0" i="0" u="none">
                <a:solidFill>
                  <a:srgbClr val="334155"/>
                </a:solidFill>
                <a:latin typeface="Plus Jakarta Sans"/>
              </a:rPr>
              <a:t> 4-bit adder/subtractor with carry chain.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836789"/>
            <a:ext cx="5929312" cy="2399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0F172A"/>
                </a:solidFill>
                <a:latin typeface="Plus Jakarta Sans"/>
              </a:rPr>
              <a:t>logic_u:</a:t>
            </a:r>
            <a:r>
              <a:rPr sz="1350" b="0" i="0" u="none">
                <a:solidFill>
                  <a:srgbClr val="334155"/>
                </a:solidFill>
                <a:latin typeface="Plus Jakarta Sans"/>
              </a:rPr>
              <a:t> Bitwise AND, OR, XOR, NOT operations.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210050"/>
            <a:ext cx="5929312" cy="2399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0F172A"/>
                </a:solidFill>
                <a:latin typeface="Plus Jakarta Sans"/>
              </a:rPr>
              <a:t>shifter_u:</a:t>
            </a:r>
            <a:r>
              <a:rPr sz="1350" b="0" i="0" u="none">
                <a:solidFill>
                  <a:srgbClr val="334155"/>
                </a:solidFill>
                <a:latin typeface="Plus Jakarta Sans"/>
              </a:rPr>
              <a:t> Single-bit logical left/right shifts.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583310"/>
            <a:ext cx="5929312" cy="2399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0F172A"/>
                </a:solidFill>
                <a:latin typeface="Plus Jakarta Sans"/>
              </a:rPr>
              <a:t>muldiv_u:</a:t>
            </a:r>
            <a:r>
              <a:rPr sz="1350" b="0" i="0" u="none">
                <a:solidFill>
                  <a:srgbClr val="334155"/>
                </a:solidFill>
                <a:latin typeface="Plus Jakarta Sans"/>
              </a:rPr>
              <a:t> 4-cycle sequential Multiply/Divide FSM.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956571"/>
            <a:ext cx="4061689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sz="1350" b="1" i="0" u="none" dirty="0" err="1">
                <a:solidFill>
                  <a:srgbClr val="0F172A"/>
                </a:solidFill>
                <a:latin typeface="Plus Jakarta Sans"/>
              </a:rPr>
              <a:t>flags_u</a:t>
            </a:r>
            <a:r>
              <a:rPr sz="1350" b="1" i="0" u="none" dirty="0">
                <a:solidFill>
                  <a:srgbClr val="0F172A"/>
                </a:solidFill>
                <a:latin typeface="Plus Jakarta Sans"/>
              </a:rPr>
              <a:t>:</a:t>
            </a:r>
            <a:r>
              <a:rPr sz="1350" b="0" i="0" u="none" dirty="0">
                <a:solidFill>
                  <a:srgbClr val="334155"/>
                </a:solidFill>
                <a:latin typeface="Plus Jakarta Sans"/>
              </a:rPr>
              <a:t> </a:t>
            </a:r>
            <a:r>
              <a:rPr lang="en-US" sz="1400" dirty="0"/>
              <a:t>Status flags logic for C, Z, V, N, and </a:t>
            </a:r>
            <a:r>
              <a:rPr lang="en-US" sz="1400" dirty="0" err="1"/>
              <a:t>div_by_zero</a:t>
            </a:r>
            <a:r>
              <a:rPr lang="en-US" sz="1400" dirty="0"/>
              <a:t>.</a:t>
            </a:r>
            <a:endParaRPr sz="1350" b="0" i="0" u="none" dirty="0">
              <a:solidFill>
                <a:srgbClr val="334155"/>
              </a:solidFill>
              <a:latin typeface="Plus Jakarta San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991350" y="2223492"/>
            <a:ext cx="4438054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Plus Jakarta Sans"/>
              </a:rPr>
              <a:t>30-Pin External I/O Specification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05600" y="2890242"/>
            <a:ext cx="54864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284C7"/>
                </a:solidFill>
                <a:latin typeface="Plus Jakarta Sans"/>
              </a:rPr>
              <a:t>INPUT SIGNALS (15 PINS)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05600" y="3147417"/>
            <a:ext cx="4495800" cy="7157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 dirty="0">
                <a:solidFill>
                  <a:srgbClr val="0F172A"/>
                </a:solidFill>
                <a:latin typeface="Plus Jakarta Sans"/>
              </a:rPr>
              <a:t>clk, </a:t>
            </a:r>
            <a:r>
              <a:rPr sz="1350" b="0" i="0" u="none" dirty="0" err="1">
                <a:solidFill>
                  <a:srgbClr val="0F172A"/>
                </a:solidFill>
                <a:latin typeface="Plus Jakarta Sans"/>
              </a:rPr>
              <a:t>rst</a:t>
            </a:r>
            <a:r>
              <a:rPr sz="1350" b="0" i="0" u="none" dirty="0">
                <a:solidFill>
                  <a:srgbClr val="0F172A"/>
                </a:solidFill>
                <a:latin typeface="Plus Jakarta Sans"/>
              </a:rPr>
              <a:t>, start</a:t>
            </a:r>
            <a:r>
              <a:rPr sz="1350" b="0" i="0" u="none" dirty="0">
                <a:solidFill>
                  <a:srgbClr val="1E293B"/>
                </a:solidFill>
                <a:latin typeface="Plus Jakarta Sans"/>
              </a:rPr>
              <a:t> • Clock, Reset, Start</a:t>
            </a:r>
            <a:r>
              <a:rPr dirty="0"/>
              <a:t>
</a:t>
            </a:r>
            <a:r>
              <a:rPr sz="1350" b="0" i="0" u="none" dirty="0">
                <a:solidFill>
                  <a:srgbClr val="0F172A"/>
                </a:solidFill>
                <a:latin typeface="Plus Jakarta Sans"/>
              </a:rPr>
              <a:t>opcode[3:0]</a:t>
            </a:r>
            <a:r>
              <a:rPr sz="1350" b="0" i="0" u="none" dirty="0">
                <a:solidFill>
                  <a:srgbClr val="1E293B"/>
                </a:solidFill>
                <a:latin typeface="Plus Jakarta Sans"/>
              </a:rPr>
              <a:t> (4b) • Operation select</a:t>
            </a:r>
            <a:r>
              <a:rPr dirty="0"/>
              <a:t>
</a:t>
            </a:r>
            <a:r>
              <a:rPr sz="1350" b="0" i="0" u="none" dirty="0">
                <a:solidFill>
                  <a:srgbClr val="0F172A"/>
                </a:solidFill>
                <a:latin typeface="Plus Jakarta Sans"/>
              </a:rPr>
              <a:t>a[3:0], b[3:0]</a:t>
            </a:r>
            <a:r>
              <a:rPr sz="1350" b="0" i="0" u="none" dirty="0">
                <a:solidFill>
                  <a:srgbClr val="1E293B"/>
                </a:solidFill>
                <a:latin typeface="Plus Jakarta Sans"/>
              </a:rPr>
              <a:t> (8b) • 4-bit data operands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05600" y="4391025"/>
            <a:ext cx="54864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Plus Jakarta Sans"/>
              </a:rPr>
              <a:t>OUTPUT SIGNALS (15 PINS)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05600" y="4648200"/>
            <a:ext cx="4495800" cy="7694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50" b="0" i="0" u="none" dirty="0">
                <a:solidFill>
                  <a:srgbClr val="0F172A"/>
                </a:solidFill>
                <a:latin typeface="Plus Jakarta Sans"/>
              </a:rPr>
              <a:t>result[7:0]</a:t>
            </a:r>
            <a:r>
              <a:rPr sz="1350" b="0" i="0" u="none" dirty="0">
                <a:solidFill>
                  <a:srgbClr val="1E293B"/>
                </a:solidFill>
                <a:latin typeface="Plus Jakarta Sans"/>
              </a:rPr>
              <a:t> (8b) • Computed </a:t>
            </a:r>
            <a:r>
              <a:rPr sz="1350" b="0" i="0" u="none" dirty="0" err="1">
                <a:solidFill>
                  <a:srgbClr val="1E293B"/>
                </a:solidFill>
                <a:latin typeface="Plus Jakarta Sans"/>
              </a:rPr>
              <a:t>datapath</a:t>
            </a:r>
            <a:r>
              <a:rPr sz="1350" b="0" i="0" u="none" dirty="0">
                <a:solidFill>
                  <a:srgbClr val="1E293B"/>
                </a:solidFill>
                <a:latin typeface="Plus Jakarta Sans"/>
              </a:rPr>
              <a:t> output</a:t>
            </a:r>
            <a:r>
              <a:rPr dirty="0"/>
              <a:t>
</a:t>
            </a:r>
            <a:r>
              <a:rPr lang="en-US" sz="1400" dirty="0"/>
              <a:t>carry, zero, overflow, negative (4b)</a:t>
            </a:r>
            <a:r>
              <a:rPr sz="1350" b="0" i="0" u="none" dirty="0">
                <a:solidFill>
                  <a:srgbClr val="1E293B"/>
                </a:solidFill>
                <a:latin typeface="Plus Jakarta Sans"/>
              </a:rPr>
              <a:t>• Status flags</a:t>
            </a:r>
            <a:r>
              <a:rPr dirty="0"/>
              <a:t>
</a:t>
            </a:r>
            <a:r>
              <a:rPr lang="en-US" sz="1400" dirty="0"/>
              <a:t>busy, done, </a:t>
            </a:r>
            <a:r>
              <a:rPr lang="en-US" sz="1400" dirty="0" err="1"/>
              <a:t>div_by_zero</a:t>
            </a:r>
            <a:r>
              <a:rPr lang="en-US" sz="1400" dirty="0"/>
              <a:t> (3b)</a:t>
            </a:r>
            <a:r>
              <a:rPr sz="1350" b="0" i="0" u="none" dirty="0">
                <a:solidFill>
                  <a:srgbClr val="1E293B"/>
                </a:solidFill>
                <a:latin typeface="Plus Jakarta Sans"/>
              </a:rPr>
              <a:t> • </a:t>
            </a:r>
            <a:r>
              <a:rPr lang="en-US" sz="1400" dirty="0"/>
              <a:t>Control &amp; Exception</a:t>
            </a:r>
            <a:endParaRPr sz="1350" b="0" i="0" u="none" dirty="0">
              <a:solidFill>
                <a:srgbClr val="1E293B"/>
              </a:solidFill>
              <a:latin typeface="Plus Jakarta Sans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36F3C0E-F5DD-1664-38B2-92043C127019}"/>
              </a:ext>
            </a:extLst>
          </p:cNvPr>
          <p:cNvSpPr txBox="1"/>
          <p:nvPr/>
        </p:nvSpPr>
        <p:spPr>
          <a:xfrm>
            <a:off x="522150" y="1113608"/>
            <a:ext cx="609702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BED7FF"/>
                </a:solidFill>
              </a:defRPr>
            </a:pPr>
            <a:r>
              <a:rPr lang="fr-FR" sz="1200" dirty="0">
                <a:solidFill>
                  <a:schemeClr val="tx2"/>
                </a:solidFill>
              </a:rPr>
              <a:t>P1 Project: ALU_4bit_SE190570| </a:t>
            </a:r>
            <a:r>
              <a:rPr lang="fr-FR" sz="1200" dirty="0" err="1">
                <a:solidFill>
                  <a:schemeClr val="tx2"/>
                </a:solidFill>
              </a:rPr>
              <a:t>Tran</a:t>
            </a:r>
            <a:r>
              <a:rPr lang="fr-FR" sz="1200" dirty="0">
                <a:solidFill>
                  <a:schemeClr val="tx2"/>
                </a:solidFill>
              </a:rPr>
              <a:t> Quan Bao (SE190570) | AMD </a:t>
            </a:r>
            <a:r>
              <a:rPr lang="fr-FR" sz="1200" dirty="0" err="1">
                <a:solidFill>
                  <a:schemeClr val="tx2"/>
                </a:solidFill>
              </a:rPr>
              <a:t>Xilinx</a:t>
            </a:r>
            <a:r>
              <a:rPr lang="fr-FR" sz="1200" dirty="0">
                <a:solidFill>
                  <a:schemeClr val="tx2"/>
                </a:solidFill>
              </a:rPr>
              <a:t> </a:t>
            </a:r>
            <a:r>
              <a:rPr lang="fr-FR" sz="1200" dirty="0" err="1">
                <a:solidFill>
                  <a:schemeClr val="tx2"/>
                </a:solidFill>
              </a:rPr>
              <a:t>Vivado</a:t>
            </a:r>
            <a:r>
              <a:rPr lang="fr-FR" sz="1200" dirty="0">
                <a:solidFill>
                  <a:schemeClr val="tx2"/>
                </a:solidFill>
              </a:rPr>
              <a:t> 2026.1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CF2FE98-2632-5D7E-5BE6-7DBE5954102A}"/>
              </a:ext>
            </a:extLst>
          </p:cNvPr>
          <p:cNvSpPr txBox="1"/>
          <p:nvPr/>
        </p:nvSpPr>
        <p:spPr>
          <a:xfrm>
            <a:off x="830545" y="5212527"/>
            <a:ext cx="6097022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50" b="1" dirty="0" err="1"/>
              <a:t>result_mux</a:t>
            </a:r>
            <a:r>
              <a:rPr lang="en-US" sz="1350" b="1" dirty="0"/>
              <a:t> : </a:t>
            </a:r>
            <a:r>
              <a:rPr lang="en-US" sz="1350" dirty="0"/>
              <a:t>Multiplexes execution outputs from functional </a:t>
            </a:r>
          </a:p>
          <a:p>
            <a:r>
              <a:rPr lang="en-US" sz="1350" dirty="0"/>
              <a:t>units onto result[7:0].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621881"/>
            <a:ext cx="10972800" cy="2352675"/>
          </a:xfrm>
          <a:prstGeom prst="roundRect">
            <a:avLst>
              <a:gd name="adj" fmla="val 566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1778793"/>
            <a:ext cx="5372100" cy="1614487"/>
          </a:xfrm>
          <a:prstGeom prst="roundRect">
            <a:avLst>
              <a:gd name="adj" fmla="val 825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10300" y="1778793"/>
            <a:ext cx="5372100" cy="1614487"/>
          </a:xfrm>
          <a:prstGeom prst="roundRect">
            <a:avLst>
              <a:gd name="adj" fmla="val 825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0" y="2050256"/>
            <a:ext cx="219075" cy="1905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7950" y="2050256"/>
            <a:ext cx="171450" cy="190500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92219"/>
              </p:ext>
            </p:extLst>
          </p:nvPr>
        </p:nvGraphicFramePr>
        <p:xfrm>
          <a:off x="838200" y="3850481"/>
          <a:ext cx="10515598" cy="1895475"/>
        </p:xfrm>
        <a:graphic>
          <a:graphicData uri="http://schemas.openxmlformats.org/drawingml/2006/table">
            <a:tbl>
              <a:tblPr/>
              <a:tblGrid>
                <a:gridCol w="20440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189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417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108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3868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Control Multiplexer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Adder Input Port</a:t>
                      </a:r>
                      <a:endParaRPr sz="1125" b="1" i="0" u="none" dirty="0">
                        <a:solidFill>
                          <a:srgbClr val="64748B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Mode 0: Combinational (</a:t>
                      </a:r>
                      <a:r>
                        <a:rPr sz="1050" b="1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busy = 0</a:t>
                      </a:r>
                      <a:r>
                        <a:rPr sz="1125" b="1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Mode 1: Sequential (</a:t>
                      </a:r>
                      <a:r>
                        <a:rPr sz="1050" b="1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busy = 1</a:t>
                      </a:r>
                      <a:r>
                        <a:rPr sz="1125" b="1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3868">
                <a:tc>
                  <a:txBody>
                    <a:bodyPr/>
                    <a:lstStyle/>
                    <a:p>
                      <a:pPr algn="l"/>
                      <a:r>
                        <a:rPr sz="1350" b="1" i="0" u="none" dirty="0" err="1">
                          <a:solidFill>
                            <a:srgbClr val="0284C7"/>
                          </a:solidFill>
                          <a:latin typeface="JetBrains Mono"/>
                        </a:rPr>
                        <a:t>mux_add_a</a:t>
                      </a:r>
                      <a:endParaRPr sz="1350" b="1" i="0" u="none" dirty="0">
                        <a:solidFill>
                          <a:srgbClr val="0284C7"/>
                        </a:solidFill>
                        <a:latin typeface="JetBrains Mono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Operand A (4-bit)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External input </a:t>
                      </a:r>
                      <a:r>
                        <a:rPr sz="1350" b="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a[3:0]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Accumulator register </a:t>
                      </a:r>
                      <a:r>
                        <a:rPr lang="en-US" sz="14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md_add_a</a:t>
                      </a:r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[3:0]</a:t>
                      </a:r>
                      <a:endParaRPr sz="1400" b="0" i="0" u="none" dirty="0">
                        <a:solidFill>
                          <a:srgbClr val="0F172A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3868">
                <a:tc>
                  <a:txBody>
                    <a:bodyPr/>
                    <a:lstStyle/>
                    <a:p>
                      <a:pPr algn="l"/>
                      <a:r>
                        <a:rPr sz="1350" b="1" i="0" u="none" dirty="0" err="1">
                          <a:solidFill>
                            <a:srgbClr val="0284C7"/>
                          </a:solidFill>
                          <a:latin typeface="JetBrains Mono"/>
                        </a:rPr>
                        <a:t>mux_add_b</a:t>
                      </a:r>
                      <a:endParaRPr sz="1350" b="1" i="0" u="none" dirty="0">
                        <a:solidFill>
                          <a:srgbClr val="0284C7"/>
                        </a:solidFill>
                        <a:latin typeface="JetBrains Mono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 dirty="0">
                          <a:solidFill>
                            <a:srgbClr val="1E293B"/>
                          </a:solidFill>
                          <a:latin typeface="Plus Jakarta Sans"/>
                        </a:rPr>
                        <a:t>Operand B (4-bit)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External input </a:t>
                      </a:r>
                      <a:r>
                        <a:rPr sz="1350" b="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b[3:0]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Multiplicand / Divisor </a:t>
                      </a:r>
                      <a:r>
                        <a:rPr lang="en-US" sz="14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md_add_b</a:t>
                      </a:r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[3:0]</a:t>
                      </a:r>
                      <a:endParaRPr sz="1400" b="0" i="0" u="none" dirty="0">
                        <a:solidFill>
                          <a:srgbClr val="0F172A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3871">
                <a:tc>
                  <a:txBody>
                    <a:bodyPr/>
                    <a:lstStyle/>
                    <a:p>
                      <a:pPr algn="l"/>
                      <a:r>
                        <a:rPr sz="1350" b="1" i="0" u="none" dirty="0" err="1">
                          <a:solidFill>
                            <a:srgbClr val="0284C7"/>
                          </a:solidFill>
                          <a:latin typeface="JetBrains Mono"/>
                        </a:rPr>
                        <a:t>mux_add_sub</a:t>
                      </a:r>
                      <a:endParaRPr sz="1350" b="1" i="0" u="none" dirty="0">
                        <a:solidFill>
                          <a:srgbClr val="0284C7"/>
                        </a:solidFill>
                        <a:latin typeface="JetBrains Mono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Add/Sub Control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Decoded </a:t>
                      </a:r>
                      <a:r>
                        <a:rPr sz="1350" b="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sub</a:t>
                      </a:r>
                      <a:r>
                        <a:rPr sz="1350" b="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 line (Op 0001)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Restoring trial subtract </a:t>
                      </a:r>
                      <a:r>
                        <a:rPr lang="en-US" sz="14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md_add_sub</a:t>
                      </a:r>
                      <a:endParaRPr sz="1400" b="0" i="0" u="none" dirty="0">
                        <a:solidFill>
                          <a:srgbClr val="1E293B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PART A (2/3) • HARDWARE OPTIMIZATION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Resource-Shared Datapath 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7250" y="2359818"/>
            <a:ext cx="497205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Zero dedicated adders for multiplication and division routines. A single 4-bit Ripple-Carry Adder handles all arithmetic tasks.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57950" y="2359818"/>
            <a:ext cx="4972050" cy="7858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The active </a:t>
            </a:r>
            <a:r>
              <a:rPr sz="1275" b="0" i="0" u="none">
                <a:solidFill>
                  <a:srgbClr val="0284C7"/>
                </a:solidFill>
                <a:latin typeface="Plus Jakarta Sans"/>
              </a:rPr>
              <a:t>busy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 control line switches adder inputs dynamically between combinational and multi-cycle sequential states.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0625" y="2026443"/>
            <a:ext cx="2825353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Area Optimization Goal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43700" y="2026443"/>
            <a:ext cx="2887860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Dynamic Datapath MUX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DC90047-2D2B-16FB-878C-139D329A3200}"/>
              </a:ext>
            </a:extLst>
          </p:cNvPr>
          <p:cNvSpPr txBox="1"/>
          <p:nvPr/>
        </p:nvSpPr>
        <p:spPr>
          <a:xfrm>
            <a:off x="522150" y="1113608"/>
            <a:ext cx="609702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BED7FF"/>
                </a:solidFill>
              </a:defRPr>
            </a:pPr>
            <a:r>
              <a:rPr lang="fr-FR" sz="1200" dirty="0">
                <a:solidFill>
                  <a:schemeClr val="tx2"/>
                </a:solidFill>
              </a:rPr>
              <a:t>P1 Project: ALU_4bit_SE190570| </a:t>
            </a:r>
            <a:r>
              <a:rPr lang="fr-FR" sz="1200" dirty="0" err="1">
                <a:solidFill>
                  <a:schemeClr val="tx2"/>
                </a:solidFill>
              </a:rPr>
              <a:t>Tran</a:t>
            </a:r>
            <a:r>
              <a:rPr lang="fr-FR" sz="1200" dirty="0">
                <a:solidFill>
                  <a:schemeClr val="tx2"/>
                </a:solidFill>
              </a:rPr>
              <a:t> Quan Bao (SE190570) | AMD </a:t>
            </a:r>
            <a:r>
              <a:rPr lang="fr-FR" sz="1200" dirty="0" err="1">
                <a:solidFill>
                  <a:schemeClr val="tx2"/>
                </a:solidFill>
              </a:rPr>
              <a:t>Xilinx</a:t>
            </a:r>
            <a:r>
              <a:rPr lang="fr-FR" sz="1200" dirty="0">
                <a:solidFill>
                  <a:schemeClr val="tx2"/>
                </a:solidFill>
              </a:rPr>
              <a:t> </a:t>
            </a:r>
            <a:r>
              <a:rPr lang="fr-FR" sz="1200" dirty="0" err="1">
                <a:solidFill>
                  <a:schemeClr val="tx2"/>
                </a:solidFill>
              </a:rPr>
              <a:t>Vivado</a:t>
            </a:r>
            <a:r>
              <a:rPr lang="fr-FR" sz="1200" dirty="0">
                <a:solidFill>
                  <a:schemeClr val="tx2"/>
                </a:solidFill>
              </a:rPr>
              <a:t> 2026.1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695575"/>
            <a:ext cx="3505200" cy="2362200"/>
          </a:xfrm>
          <a:prstGeom prst="roundRect">
            <a:avLst>
              <a:gd name="adj" fmla="val 564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43400" y="2586037"/>
            <a:ext cx="3505200" cy="2581126"/>
          </a:xfrm>
          <a:prstGeom prst="roundRect">
            <a:avLst>
              <a:gd name="adj" fmla="val 516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2904486"/>
            <a:ext cx="3505200" cy="1905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962275"/>
            <a:ext cx="304800" cy="3048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2852737"/>
            <a:ext cx="304800" cy="304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5800" y="3190875"/>
            <a:ext cx="304800" cy="3048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8212" y="3043237"/>
            <a:ext cx="104775" cy="1428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2962" y="2933700"/>
            <a:ext cx="142875" cy="1428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96287" y="3271837"/>
            <a:ext cx="123825" cy="14287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PART A (3/3) • GATE-LEVEL FOUNDATIONS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Boolean Equations &amp; Submodule Algorithms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8250" y="2995612"/>
            <a:ext cx="2100262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1. Full Adder Core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3401896"/>
            <a:ext cx="1931619" cy="21627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785"/>
              </a:lnSpc>
            </a:pPr>
            <a:r>
              <a:rPr sz="1275" b="1" i="0" u="none" dirty="0">
                <a:solidFill>
                  <a:srgbClr val="0F172A"/>
                </a:solidFill>
                <a:latin typeface="Plus Jakarta Sans"/>
              </a:rPr>
              <a:t>Sum: </a:t>
            </a:r>
            <a:r>
              <a:rPr sz="1125" b="1" i="0" u="none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Plus Jakarta Sans"/>
              </a:rPr>
              <a:t>sum_i</a:t>
            </a:r>
            <a:r>
              <a:rPr sz="1125" b="1" i="0" u="none" dirty="0">
                <a:solidFill>
                  <a:schemeClr val="tx2">
                    <a:lumMod val="60000"/>
                    <a:lumOff val="40000"/>
                  </a:schemeClr>
                </a:solidFill>
                <a:latin typeface="Plus Jakarta Sans"/>
              </a:rPr>
              <a:t> = </a:t>
            </a:r>
            <a:r>
              <a:rPr sz="1125" b="1" i="0" u="none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Plus Jakarta Sans"/>
              </a:rPr>
              <a:t>a_i</a:t>
            </a:r>
            <a:r>
              <a:rPr sz="1125" b="1" i="0" u="none" dirty="0">
                <a:solidFill>
                  <a:schemeClr val="tx2">
                    <a:lumMod val="60000"/>
                    <a:lumOff val="40000"/>
                  </a:schemeClr>
                </a:solidFill>
                <a:latin typeface="Plus Jakarta Sans"/>
              </a:rPr>
              <a:t> ^ </a:t>
            </a:r>
            <a:r>
              <a:rPr sz="1125" b="1" i="0" u="none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Plus Jakarta Sans"/>
              </a:rPr>
              <a:t>b_inv_i</a:t>
            </a:r>
            <a:r>
              <a:rPr sz="1125" b="1" i="0" u="none" dirty="0">
                <a:solidFill>
                  <a:schemeClr val="tx2">
                    <a:lumMod val="60000"/>
                    <a:lumOff val="40000"/>
                  </a:schemeClr>
                </a:solidFill>
                <a:latin typeface="Plus Jakarta Sans"/>
              </a:rPr>
              <a:t> ^ </a:t>
            </a:r>
            <a:r>
              <a:rPr sz="1125" b="1" i="0" u="none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Plus Jakarta Sans"/>
              </a:rPr>
              <a:t>c_i</a:t>
            </a:r>
            <a:endParaRPr sz="1125" b="1" i="0" u="none" dirty="0">
              <a:solidFill>
                <a:schemeClr val="tx2">
                  <a:lumMod val="60000"/>
                  <a:lumOff val="40000"/>
                </a:schemeClr>
              </a:solidFill>
              <a:latin typeface="Plus Jakarta San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38200" y="3762375"/>
            <a:ext cx="3143250" cy="3808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75" b="1" i="0" u="none" dirty="0">
                <a:solidFill>
                  <a:srgbClr val="0F172A"/>
                </a:solidFill>
                <a:latin typeface="Plus Jakarta Sans"/>
              </a:rPr>
              <a:t>Carry: </a:t>
            </a:r>
            <a:r>
              <a:rPr lang="en-US" sz="12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c_(i+1) = (</a:t>
            </a:r>
            <a:r>
              <a:rPr lang="en-US" sz="1200" b="1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a_i</a:t>
            </a:r>
            <a:r>
              <a:rPr lang="en-US" sz="12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&amp; </a:t>
            </a:r>
            <a:r>
              <a:rPr lang="en-US" sz="1200" b="1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b_inv_i</a:t>
            </a:r>
            <a:r>
              <a:rPr lang="en-US" sz="12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) | ((</a:t>
            </a:r>
            <a:r>
              <a:rPr lang="en-US" sz="1200" b="1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a_i</a:t>
            </a:r>
            <a:r>
              <a:rPr lang="en-US" sz="12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^ </a:t>
            </a:r>
            <a:r>
              <a:rPr lang="en-US" sz="1200" b="1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b_inv_i</a:t>
            </a:r>
            <a:r>
              <a:rPr lang="en-US" sz="12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) &amp; </a:t>
            </a:r>
            <a:r>
              <a:rPr lang="en-US" sz="1200" b="1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c_i</a:t>
            </a:r>
            <a:r>
              <a:rPr lang="en-US" sz="12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)</a:t>
            </a:r>
            <a:endParaRPr sz="1125" b="1" i="0" u="none" dirty="0">
              <a:solidFill>
                <a:schemeClr val="tx2">
                  <a:lumMod val="60000"/>
                  <a:lumOff val="40000"/>
                </a:schemeClr>
              </a:solidFill>
              <a:latin typeface="Plus Jakarta San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38200" y="4324677"/>
            <a:ext cx="3143250" cy="2162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85"/>
              </a:lnSpc>
            </a:pPr>
            <a:r>
              <a:rPr sz="1275" b="1" i="0" u="none" dirty="0">
                <a:solidFill>
                  <a:srgbClr val="0F172A"/>
                </a:solidFill>
                <a:latin typeface="Plus Jakarta Sans"/>
              </a:rPr>
              <a:t>2's Comp: </a:t>
            </a:r>
            <a:r>
              <a:rPr sz="1125" b="1" i="0" u="none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Plus Jakarta Sans"/>
              </a:rPr>
              <a:t>b_inv</a:t>
            </a:r>
            <a:r>
              <a:rPr sz="1125" b="1" i="0" u="none" dirty="0">
                <a:solidFill>
                  <a:schemeClr val="tx2">
                    <a:lumMod val="60000"/>
                    <a:lumOff val="40000"/>
                  </a:schemeClr>
                </a:solidFill>
                <a:latin typeface="Plus Jakarta Sans"/>
              </a:rPr>
              <a:t>[</a:t>
            </a:r>
            <a:r>
              <a:rPr sz="1125" b="1" i="0" u="none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Plus Jakarta Sans"/>
              </a:rPr>
              <a:t>i</a:t>
            </a:r>
            <a:r>
              <a:rPr sz="1125" b="1" i="0" u="none" dirty="0">
                <a:solidFill>
                  <a:schemeClr val="tx2">
                    <a:lumMod val="60000"/>
                    <a:lumOff val="40000"/>
                  </a:schemeClr>
                </a:solidFill>
                <a:latin typeface="Plus Jakarta Sans"/>
              </a:rPr>
              <a:t>] = b[</a:t>
            </a:r>
            <a:r>
              <a:rPr sz="1125" b="1" i="0" u="none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Plus Jakarta Sans"/>
              </a:rPr>
              <a:t>i</a:t>
            </a:r>
            <a:r>
              <a:rPr sz="1125" b="1" i="0" u="none" dirty="0">
                <a:solidFill>
                  <a:schemeClr val="tx2">
                    <a:lumMod val="60000"/>
                    <a:lumOff val="40000"/>
                  </a:schemeClr>
                </a:solidFill>
                <a:latin typeface="Plus Jakarta Sans"/>
              </a:rPr>
              <a:t>] ^ sub, c0 = sub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72050" y="2886075"/>
            <a:ext cx="2550318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2. 4-Cycle FSM Core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3309937"/>
            <a:ext cx="3143250" cy="447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85"/>
              </a:lnSpc>
            </a:pPr>
            <a:r>
              <a:rPr sz="1275" b="1" i="0" u="none" dirty="0">
                <a:solidFill>
                  <a:srgbClr val="0F172A"/>
                </a:solidFill>
                <a:latin typeface="Plus Jakarta Sans"/>
              </a:rPr>
              <a:t>Multiply (Op </a:t>
            </a:r>
            <a:r>
              <a:rPr lang="en-US" sz="1275" b="1" i="0" u="none" dirty="0">
                <a:solidFill>
                  <a:srgbClr val="0F172A"/>
                </a:solidFill>
                <a:latin typeface="Plus Jakarta Sans"/>
              </a:rPr>
              <a:t>1000</a:t>
            </a:r>
            <a:r>
              <a:rPr sz="1275" b="1" i="0" u="none" dirty="0">
                <a:solidFill>
                  <a:srgbClr val="0F172A"/>
                </a:solidFill>
                <a:latin typeface="Plus Jakarta Sans"/>
              </a:rPr>
              <a:t>):</a:t>
            </a:r>
            <a:r>
              <a:rPr sz="1275" b="0" i="0" u="none" dirty="0">
                <a:solidFill>
                  <a:srgbClr val="334155"/>
                </a:solidFill>
                <a:latin typeface="Plus Jakarta Sans"/>
              </a:rPr>
              <a:t> 4-cycle Shift-and-Add algorithm.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3877567"/>
            <a:ext cx="3143250" cy="447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85"/>
              </a:lnSpc>
            </a:pPr>
            <a:r>
              <a:rPr sz="1275" b="1" i="0" u="none" dirty="0">
                <a:solidFill>
                  <a:srgbClr val="0F172A"/>
                </a:solidFill>
                <a:latin typeface="Plus Jakarta Sans"/>
              </a:rPr>
              <a:t>Divide (Op </a:t>
            </a:r>
            <a:r>
              <a:rPr lang="en-US" sz="1275" b="1" dirty="0">
                <a:solidFill>
                  <a:srgbClr val="0F172A"/>
                </a:solidFill>
                <a:latin typeface="Plus Jakarta Sans"/>
              </a:rPr>
              <a:t>1001)</a:t>
            </a:r>
            <a:r>
              <a:rPr sz="1275" b="1" i="0" u="none" dirty="0">
                <a:solidFill>
                  <a:srgbClr val="0F172A"/>
                </a:solidFill>
                <a:latin typeface="Plus Jakarta Sans"/>
              </a:rPr>
              <a:t>:</a:t>
            </a:r>
            <a:r>
              <a:rPr sz="1275" b="0" i="0" u="none" dirty="0">
                <a:solidFill>
                  <a:srgbClr val="334155"/>
                </a:solidFill>
                <a:latin typeface="Plus Jakarta Sans"/>
              </a:rPr>
              <a:t> 4-cycle Restoring division scheme.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4445198"/>
            <a:ext cx="3143250" cy="455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85"/>
              </a:lnSpc>
            </a:pPr>
            <a:r>
              <a:rPr sz="1275" b="1" i="0" u="none">
                <a:solidFill>
                  <a:srgbClr val="0F172A"/>
                </a:solidFill>
                <a:latin typeface="Plus Jakarta Sans"/>
              </a:rPr>
              <a:t>Exception:</a:t>
            </a:r>
            <a:r>
              <a:rPr sz="1275" b="0" i="0" u="none">
                <a:solidFill>
                  <a:srgbClr val="334155"/>
                </a:solidFill>
                <a:latin typeface="Plus Jakarta Sans"/>
              </a:rPr>
              <a:t> Instant </a:t>
            </a:r>
            <a:r>
              <a:rPr sz="1125" b="0" i="0" u="none">
                <a:solidFill>
                  <a:srgbClr val="EF4444"/>
                </a:solidFill>
                <a:latin typeface="Plus Jakarta Sans"/>
              </a:rPr>
              <a:t>div_by_zero = 1</a:t>
            </a:r>
            <a:r>
              <a:rPr sz="1275" b="0" i="0" u="none">
                <a:solidFill>
                  <a:srgbClr val="334155"/>
                </a:solidFill>
                <a:latin typeface="Plus Jakarta Sans"/>
              </a:rPr>
              <a:t> flag assertion.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05850" y="3224212"/>
            <a:ext cx="2387798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3. Status Flag Logic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05800" y="3648075"/>
            <a:ext cx="1888081" cy="21627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785"/>
              </a:lnSpc>
            </a:pPr>
            <a:r>
              <a:rPr sz="1275" b="1" i="0" u="none" dirty="0">
                <a:solidFill>
                  <a:srgbClr val="0F172A"/>
                </a:solidFill>
                <a:latin typeface="Plus Jakarta Sans"/>
              </a:rPr>
              <a:t>V (Overflow): </a:t>
            </a:r>
            <a:r>
              <a:rPr sz="1125" b="1" i="0" u="none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Plus Jakarta Sans"/>
              </a:rPr>
              <a:t>arith</a:t>
            </a:r>
            <a:r>
              <a:rPr sz="1125" b="1" i="0" u="none" dirty="0">
                <a:solidFill>
                  <a:schemeClr val="tx2">
                    <a:lumMod val="60000"/>
                    <a:lumOff val="40000"/>
                  </a:schemeClr>
                </a:solidFill>
                <a:latin typeface="Plus Jakarta Sans"/>
              </a:rPr>
              <a:t> &amp; (c3 ^ c4)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5800" y="3990975"/>
            <a:ext cx="3498458" cy="19620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sz="1275" b="1" i="0" u="none" dirty="0">
                <a:solidFill>
                  <a:srgbClr val="0F172A"/>
                </a:solidFill>
                <a:latin typeface="Plus Jakarta Sans"/>
              </a:rPr>
              <a:t>C (Carry): </a:t>
            </a:r>
            <a:r>
              <a:rPr lang="en-US" sz="1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(</a:t>
            </a:r>
            <a:r>
              <a:rPr lang="en-US" sz="1200" b="1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arith</a:t>
            </a:r>
            <a:r>
              <a:rPr lang="en-US" sz="12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&amp; c4) | (</a:t>
            </a:r>
            <a:r>
              <a:rPr lang="en-US" sz="1200" b="1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is_shl</a:t>
            </a:r>
            <a:r>
              <a:rPr lang="en-US" sz="12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&amp; a[3]) | (</a:t>
            </a:r>
            <a:r>
              <a:rPr lang="en-US" sz="1200" b="1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is_shr</a:t>
            </a:r>
            <a:r>
              <a:rPr lang="en-US" sz="12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&amp; a[0])</a:t>
            </a:r>
            <a:endParaRPr sz="1125" b="1" i="0" u="none" dirty="0">
              <a:solidFill>
                <a:schemeClr val="tx2">
                  <a:lumMod val="60000"/>
                  <a:lumOff val="40000"/>
                </a:schemeClr>
              </a:solidFill>
              <a:latin typeface="Plus Jakarta San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305800" y="4333875"/>
            <a:ext cx="1989199" cy="19620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sz="1275" b="1" i="0" u="none" dirty="0">
                <a:solidFill>
                  <a:srgbClr val="0F172A"/>
                </a:solidFill>
                <a:latin typeface="Plus Jakarta Sans"/>
              </a:rPr>
              <a:t>Z (Zero):</a:t>
            </a:r>
            <a:r>
              <a:rPr sz="1275" b="0" i="0" u="none" dirty="0">
                <a:solidFill>
                  <a:srgbClr val="334155"/>
                </a:solidFill>
                <a:latin typeface="Plus Jakarta Sans"/>
              </a:rPr>
              <a:t> </a:t>
            </a:r>
            <a:r>
              <a:rPr sz="1125" b="1" i="0" u="none" dirty="0">
                <a:solidFill>
                  <a:schemeClr val="tx2">
                    <a:lumMod val="60000"/>
                    <a:lumOff val="40000"/>
                  </a:schemeClr>
                </a:solidFill>
                <a:latin typeface="Plus Jakarta Sans"/>
              </a:rPr>
              <a:t>~(|result)</a:t>
            </a:r>
            <a:r>
              <a:rPr sz="1275" b="1" i="0" u="none" dirty="0">
                <a:solidFill>
                  <a:schemeClr val="tx2">
                    <a:lumMod val="60000"/>
                    <a:lumOff val="40000"/>
                  </a:schemeClr>
                </a:solidFill>
                <a:latin typeface="Plus Jakarta Sans"/>
              </a:rPr>
              <a:t>, </a:t>
            </a:r>
            <a:r>
              <a:rPr sz="1275" b="1" i="0" u="none" dirty="0">
                <a:solidFill>
                  <a:srgbClr val="0F172A"/>
                </a:solidFill>
                <a:latin typeface="Plus Jakarta Sans"/>
              </a:rPr>
              <a:t>N:</a:t>
            </a:r>
            <a:r>
              <a:rPr lang="en-US" sz="1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12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result[3]</a:t>
            </a:r>
            <a:endParaRPr sz="1125" b="1" i="0" u="none" dirty="0">
              <a:solidFill>
                <a:schemeClr val="tx2">
                  <a:lumMod val="60000"/>
                  <a:lumOff val="40000"/>
                </a:schemeClr>
              </a:solidFill>
              <a:latin typeface="Plus Jakarta Sans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0D96CE7-C332-7138-C2AC-8076B8BCA487}"/>
              </a:ext>
            </a:extLst>
          </p:cNvPr>
          <p:cNvSpPr txBox="1"/>
          <p:nvPr/>
        </p:nvSpPr>
        <p:spPr>
          <a:xfrm>
            <a:off x="522150" y="1113608"/>
            <a:ext cx="609702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BED7FF"/>
                </a:solidFill>
              </a:defRPr>
            </a:pPr>
            <a:r>
              <a:rPr lang="fr-FR" sz="1200" dirty="0">
                <a:solidFill>
                  <a:schemeClr val="tx2"/>
                </a:solidFill>
              </a:rPr>
              <a:t>P1 Project: ALU_4bit_SE190570| </a:t>
            </a:r>
            <a:r>
              <a:rPr lang="fr-FR" sz="1200" dirty="0" err="1">
                <a:solidFill>
                  <a:schemeClr val="tx2"/>
                </a:solidFill>
              </a:rPr>
              <a:t>Tran</a:t>
            </a:r>
            <a:r>
              <a:rPr lang="fr-FR" sz="1200" dirty="0">
                <a:solidFill>
                  <a:schemeClr val="tx2"/>
                </a:solidFill>
              </a:rPr>
              <a:t> Quan Bao (SE190570) | AMD </a:t>
            </a:r>
            <a:r>
              <a:rPr lang="fr-FR" sz="1200" dirty="0" err="1">
                <a:solidFill>
                  <a:schemeClr val="tx2"/>
                </a:solidFill>
              </a:rPr>
              <a:t>Xilinx</a:t>
            </a:r>
            <a:r>
              <a:rPr lang="fr-FR" sz="1200" dirty="0">
                <a:solidFill>
                  <a:schemeClr val="tx2"/>
                </a:solidFill>
              </a:rPr>
              <a:t> </a:t>
            </a:r>
            <a:r>
              <a:rPr lang="fr-FR" sz="1200" dirty="0" err="1">
                <a:solidFill>
                  <a:schemeClr val="tx2"/>
                </a:solidFill>
              </a:rPr>
              <a:t>Vivado</a:t>
            </a:r>
            <a:r>
              <a:rPr lang="fr-FR" sz="1200" dirty="0">
                <a:solidFill>
                  <a:schemeClr val="tx2"/>
                </a:solidFill>
              </a:rPr>
              <a:t> 2026.1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638425"/>
            <a:ext cx="3505200" cy="2486025"/>
          </a:xfrm>
          <a:prstGeom prst="roundRect">
            <a:avLst>
              <a:gd name="adj" fmla="val 536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43400" y="2638425"/>
            <a:ext cx="3505200" cy="2486025"/>
          </a:xfrm>
          <a:prstGeom prst="roundRect">
            <a:avLst>
              <a:gd name="adj" fmla="val 536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2638425"/>
            <a:ext cx="3505200" cy="2486025"/>
          </a:xfrm>
          <a:prstGeom prst="roundRect">
            <a:avLst>
              <a:gd name="adj" fmla="val 536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924175"/>
            <a:ext cx="381000" cy="381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2924175"/>
            <a:ext cx="381000" cy="381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5800" y="2924175"/>
            <a:ext cx="381000" cy="3810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9162" y="3028950"/>
            <a:ext cx="219075" cy="1714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76775" y="3028950"/>
            <a:ext cx="171450" cy="1714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10575" y="3028950"/>
            <a:ext cx="171450" cy="1714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PART B (1/2) • VERIFICATION ARCHITECTURE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704850"/>
            <a:ext cx="6493765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sz="2400" b="1" i="0" u="none" dirty="0">
                <a:solidFill>
                  <a:srgbClr val="0F172A"/>
                </a:solidFill>
                <a:latin typeface="Plus Jakarta Sans"/>
              </a:rPr>
              <a:t>Automated Self-Checking Testbench (</a:t>
            </a:r>
            <a:r>
              <a:rPr lang="en-US" sz="2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alu_4bit_tb.v</a:t>
            </a:r>
            <a:r>
              <a:rPr sz="2400" b="1" i="0" u="none" dirty="0">
                <a:solidFill>
                  <a:srgbClr val="0F172A"/>
                </a:solidFill>
                <a:latin typeface="Plus Jakarta Sans"/>
              </a:rPr>
              <a:t>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3457575"/>
            <a:ext cx="4000500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Clock &amp; Reset Setup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3810000"/>
            <a:ext cx="3143250" cy="8386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50" b="0" i="0" u="none" dirty="0">
                <a:solidFill>
                  <a:srgbClr val="475569"/>
                </a:solidFill>
                <a:latin typeface="Plus Jakarta Sans"/>
              </a:rPr>
              <a:t>100 MHz clock rate with 10 ns periods</a:t>
            </a:r>
            <a:r>
              <a:rPr lang="en-US" sz="1350" b="0" i="0" u="none" dirty="0">
                <a:solidFill>
                  <a:srgbClr val="475569"/>
                </a:solidFill>
                <a:latin typeface="Plus Jakarta Sans"/>
              </a:rPr>
              <a:t>. </a:t>
            </a:r>
            <a:r>
              <a:rPr lang="en-US" sz="1400" dirty="0"/>
              <a:t>Active-high asynchronous reset</a:t>
            </a:r>
            <a:r>
              <a:rPr sz="1350" b="0" i="0" u="none" dirty="0">
                <a:solidFill>
                  <a:srgbClr val="475569"/>
                </a:solidFill>
                <a:latin typeface="Plus Jakarta Sans"/>
              </a:rPr>
              <a:t> clears all internal registers during the initial 20 ns window.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457575"/>
            <a:ext cx="4000500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Vector Test Coverage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810000"/>
            <a:ext cx="3143250" cy="15081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400" b="1" dirty="0"/>
              <a:t>Phase 1:</a:t>
            </a:r>
            <a:r>
              <a:rPr lang="en-US" sz="1400" dirty="0"/>
              <a:t> Verifies 8 combinational operations (</a:t>
            </a:r>
            <a:r>
              <a:rPr lang="en-US" sz="1400" b="1" dirty="0"/>
              <a:t>3,584 automated vectors</a:t>
            </a:r>
            <a:r>
              <a:rPr lang="en-US" sz="1400" dirty="0"/>
              <a:t>).</a:t>
            </a:r>
          </a:p>
          <a:p>
            <a:r>
              <a:rPr lang="en-US" sz="1400" b="1" dirty="0"/>
              <a:t>Phase 2:</a:t>
            </a:r>
            <a:r>
              <a:rPr lang="en-US" sz="1400" dirty="0"/>
              <a:t> Verifies 4-cycle sequential MUL/DIV and division-by-zero exceptions (</a:t>
            </a:r>
            <a:r>
              <a:rPr lang="en-US" sz="1400" b="1" dirty="0"/>
              <a:t>512 automated vectors</a:t>
            </a:r>
            <a:r>
              <a:rPr lang="en-US" sz="1400" dirty="0"/>
              <a:t>).</a:t>
            </a:r>
          </a:p>
          <a:p>
            <a:r>
              <a:rPr lang="en-US" sz="1400" b="1" dirty="0"/>
              <a:t>Total Coverage:</a:t>
            </a:r>
            <a:r>
              <a:rPr lang="en-US" sz="1400" dirty="0"/>
              <a:t> </a:t>
            </a:r>
            <a:r>
              <a:rPr lang="en-US" sz="1400" b="1" dirty="0"/>
              <a:t>4,096 comprehensive test cases</a:t>
            </a:r>
            <a:r>
              <a:rPr lang="en-US" sz="1400" dirty="0"/>
              <a:t> with zero errors.</a:t>
            </a:r>
            <a:endParaRPr sz="1350" b="0" i="0" u="none" dirty="0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305800" y="3457575"/>
            <a:ext cx="3886200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Automated Error Counter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5800" y="3810000"/>
            <a:ext cx="3143250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A 32-bit internal counter compares actual outputs with golden models. Simulation returns clean PASS only when zero errors occur.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B8F54CF-1C34-E9CC-EA84-C4D48E562F07}"/>
              </a:ext>
            </a:extLst>
          </p:cNvPr>
          <p:cNvSpPr txBox="1"/>
          <p:nvPr/>
        </p:nvSpPr>
        <p:spPr>
          <a:xfrm>
            <a:off x="522150" y="1113608"/>
            <a:ext cx="609702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BED7FF"/>
                </a:solidFill>
              </a:defRPr>
            </a:pPr>
            <a:r>
              <a:rPr lang="fr-FR" sz="1200" dirty="0">
                <a:solidFill>
                  <a:schemeClr val="tx2"/>
                </a:solidFill>
              </a:rPr>
              <a:t>P1 Project: ALU_4bit_SE190570| </a:t>
            </a:r>
            <a:r>
              <a:rPr lang="fr-FR" sz="1200" dirty="0" err="1">
                <a:solidFill>
                  <a:schemeClr val="tx2"/>
                </a:solidFill>
              </a:rPr>
              <a:t>Tran</a:t>
            </a:r>
            <a:r>
              <a:rPr lang="fr-FR" sz="1200" dirty="0">
                <a:solidFill>
                  <a:schemeClr val="tx2"/>
                </a:solidFill>
              </a:rPr>
              <a:t> Quan Bao (SE190570) | AMD </a:t>
            </a:r>
            <a:r>
              <a:rPr lang="fr-FR" sz="1200" dirty="0" err="1">
                <a:solidFill>
                  <a:schemeClr val="tx2"/>
                </a:solidFill>
              </a:rPr>
              <a:t>Xilinx</a:t>
            </a:r>
            <a:r>
              <a:rPr lang="fr-FR" sz="1200" dirty="0">
                <a:solidFill>
                  <a:schemeClr val="tx2"/>
                </a:solidFill>
              </a:rPr>
              <a:t> </a:t>
            </a:r>
            <a:r>
              <a:rPr lang="fr-FR" sz="1200" dirty="0" err="1">
                <a:solidFill>
                  <a:schemeClr val="tx2"/>
                </a:solidFill>
              </a:rPr>
              <a:t>Vivado</a:t>
            </a:r>
            <a:r>
              <a:rPr lang="fr-FR" sz="1200" dirty="0">
                <a:solidFill>
                  <a:schemeClr val="tx2"/>
                </a:solidFill>
              </a:rPr>
              <a:t> 2026.1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238250"/>
            <a:ext cx="10972800" cy="5200650"/>
          </a:xfrm>
          <a:prstGeom prst="roundRect">
            <a:avLst>
              <a:gd name="adj" fmla="val 2564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838200" y="5810250"/>
            <a:ext cx="10515600" cy="400050"/>
          </a:xfrm>
          <a:prstGeom prst="roundRect">
            <a:avLst>
              <a:gd name="adj" fmla="val 19047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09600" y="4191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PART B (2/2) • SIMULATION OUTPUT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6675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Vivado XSim Tcl Console Log &amp; PASS Validation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48800" y="1466850"/>
            <a:ext cx="238125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0B981"/>
                </a:solidFill>
                <a:latin typeface="JetBrains Mono"/>
              </a:rPr>
              <a:t>STATUS: 0 ERRORS DETECTED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3900" y="1774031"/>
            <a:ext cx="113538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 dirty="0">
                <a:solidFill>
                  <a:srgbClr val="38BDF8"/>
                </a:solidFill>
                <a:latin typeface="JetBrains Mono"/>
              </a:rPr>
              <a:t>// VIVADO TCL CONSOLE SIMULATION LOG — 4-BIT ALU VERIFICATION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1909762"/>
            <a:ext cx="113538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 dirty="0">
                <a:solidFill>
                  <a:srgbClr val="64748B"/>
                </a:solidFill>
                <a:latin typeface="JetBrains Mono"/>
              </a:rPr>
              <a:t>--------------------------------------------------------------------------------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200" y="5592645"/>
            <a:ext cx="113538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 dirty="0">
                <a:solidFill>
                  <a:srgbClr val="64748B"/>
                </a:solidFill>
                <a:latin typeface="JetBrains Mono"/>
              </a:rPr>
              <a:t>--------------------------------------------------------------------------------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9650" y="5924550"/>
            <a:ext cx="2082301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sz="1050" b="0" i="0" u="none" dirty="0">
                <a:solidFill>
                  <a:srgbClr val="94A3B8"/>
                </a:solidFill>
                <a:latin typeface="Plus Jakarta Sans"/>
              </a:rPr>
              <a:t>Target FPGA Device</a:t>
            </a:r>
            <a:r>
              <a:rPr sz="1050" b="0" i="0" u="none" dirty="0">
                <a:solidFill>
                  <a:schemeClr val="bg1"/>
                </a:solidFill>
                <a:latin typeface="Plus Jakarta Sans"/>
              </a:rPr>
              <a:t>: </a:t>
            </a:r>
            <a:r>
              <a:rPr lang="en-US" sz="1050" dirty="0">
                <a:solidFill>
                  <a:schemeClr val="bg1"/>
                </a:solidFill>
              </a:rPr>
              <a:t>xc7a35tcpg236-1</a:t>
            </a:r>
            <a:endParaRPr sz="1050" b="1" i="0" u="none" dirty="0">
              <a:solidFill>
                <a:schemeClr val="bg1"/>
              </a:solidFill>
              <a:latin typeface="Plus Jakarta San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342103" y="5930953"/>
            <a:ext cx="1840247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en-US" sz="1050" b="1" dirty="0">
                <a:solidFill>
                  <a:schemeClr val="bg1"/>
                </a:solidFill>
              </a:rPr>
              <a:t>Full Verification Run Completed</a:t>
            </a:r>
            <a:endParaRPr sz="1050" b="1" i="0" u="none" dirty="0">
              <a:solidFill>
                <a:schemeClr val="bg1"/>
              </a:solidFill>
              <a:latin typeface="Plus Jakarta Sans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D6CA0737-E206-B18E-744D-1ADDA74B0F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116816"/>
            <a:ext cx="5520027" cy="350293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2996285-72C7-A5B6-80B9-E5BF7FE40DC2}"/>
              </a:ext>
            </a:extLst>
          </p:cNvPr>
          <p:cNvSpPr txBox="1"/>
          <p:nvPr/>
        </p:nvSpPr>
        <p:spPr>
          <a:xfrm>
            <a:off x="609600" y="960903"/>
            <a:ext cx="609702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BED7FF"/>
                </a:solidFill>
              </a:defRPr>
            </a:pPr>
            <a:r>
              <a:rPr lang="fr-FR" sz="1200" dirty="0">
                <a:solidFill>
                  <a:schemeClr val="tx2"/>
                </a:solidFill>
              </a:rPr>
              <a:t>P1 Project: ALU_4bit_SE190570| </a:t>
            </a:r>
            <a:r>
              <a:rPr lang="fr-FR" sz="1200" dirty="0" err="1">
                <a:solidFill>
                  <a:schemeClr val="tx2"/>
                </a:solidFill>
              </a:rPr>
              <a:t>Tran</a:t>
            </a:r>
            <a:r>
              <a:rPr lang="fr-FR" sz="1200" dirty="0">
                <a:solidFill>
                  <a:schemeClr val="tx2"/>
                </a:solidFill>
              </a:rPr>
              <a:t> Quan Bao (SE190570) | AMD </a:t>
            </a:r>
            <a:r>
              <a:rPr lang="fr-FR" sz="1200" dirty="0" err="1">
                <a:solidFill>
                  <a:schemeClr val="tx2"/>
                </a:solidFill>
              </a:rPr>
              <a:t>Xilinx</a:t>
            </a:r>
            <a:r>
              <a:rPr lang="fr-FR" sz="1200" dirty="0">
                <a:solidFill>
                  <a:schemeClr val="tx2"/>
                </a:solidFill>
              </a:rPr>
              <a:t> </a:t>
            </a:r>
            <a:r>
              <a:rPr lang="fr-FR" sz="1200" dirty="0" err="1">
                <a:solidFill>
                  <a:schemeClr val="tx2"/>
                </a:solidFill>
              </a:rPr>
              <a:t>Vivado</a:t>
            </a:r>
            <a:r>
              <a:rPr lang="fr-FR" sz="1200" dirty="0">
                <a:solidFill>
                  <a:schemeClr val="tx2"/>
                </a:solidFill>
              </a:rPr>
              <a:t> 2026.1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238250"/>
            <a:ext cx="10972800" cy="520065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8613366"/>
              </p:ext>
            </p:extLst>
          </p:nvPr>
        </p:nvGraphicFramePr>
        <p:xfrm>
          <a:off x="800100" y="1802366"/>
          <a:ext cx="10591798" cy="3898270"/>
        </p:xfrm>
        <a:graphic>
          <a:graphicData uri="http://schemas.openxmlformats.org/drawingml/2006/table">
            <a:tbl>
              <a:tblPr/>
              <a:tblGrid>
                <a:gridCol w="1028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68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05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919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822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2511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0642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20460">
                <a:tc>
                  <a:txBody>
                    <a:bodyPr/>
                    <a:lstStyle/>
                    <a:p>
                      <a:pPr algn="l"/>
                      <a:r>
                        <a:rPr sz="1400" b="1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Time (ns)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Opcode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Operation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a, b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Result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C Z V 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Waveform Verification Notes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460">
                <a:tc>
                  <a:txBody>
                    <a:bodyPr/>
                    <a:lstStyle/>
                    <a:p>
                      <a:pPr algn="l"/>
                      <a:r>
                        <a:rPr sz="1400" b="0" i="0" u="none">
                          <a:solidFill>
                            <a:srgbClr val="1E293B"/>
                          </a:solidFill>
                          <a:latin typeface="JetBrains Mono"/>
                        </a:rPr>
                        <a:t>0 - 20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 u="none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JetBrains Mono"/>
                        </a:rPr>
                        <a:t>0000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i="0" u="none" dirty="0">
                          <a:solidFill>
                            <a:srgbClr val="1E293B"/>
                          </a:solidFill>
                          <a:latin typeface="Plus Jakarta Sans"/>
                        </a:rPr>
                        <a:t>RESET (</a:t>
                      </a:r>
                      <a:r>
                        <a:rPr sz="1400" b="1" i="0" u="none" dirty="0" err="1">
                          <a:solidFill>
                            <a:srgbClr val="1E293B"/>
                          </a:solidFill>
                          <a:latin typeface="Plus Jakarta Sans"/>
                        </a:rPr>
                        <a:t>rst</a:t>
                      </a:r>
                      <a:r>
                        <a:rPr sz="1400" b="1" i="0" u="none" dirty="0">
                          <a:solidFill>
                            <a:srgbClr val="1E293B"/>
                          </a:solidFill>
                          <a:latin typeface="Plus Jakarta Sans"/>
                        </a:rPr>
                        <a:t>=1)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 u="none">
                          <a:solidFill>
                            <a:srgbClr val="1E293B"/>
                          </a:solidFill>
                          <a:latin typeface="JetBrains Mono"/>
                        </a:rPr>
                        <a:t>0, 0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 u="none">
                          <a:solidFill>
                            <a:srgbClr val="1E293B"/>
                          </a:solidFill>
                          <a:latin typeface="JetBrains Mono"/>
                        </a:rPr>
                        <a:t>00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 u="none">
                          <a:solidFill>
                            <a:srgbClr val="1E293B"/>
                          </a:solidFill>
                          <a:latin typeface="JetBrains Mono"/>
                        </a:rPr>
                        <a:t>0 1 0 0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Registers cleared, Zero flag asserts high.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460">
                <a:tc>
                  <a:txBody>
                    <a:bodyPr/>
                    <a:lstStyle/>
                    <a:p>
                      <a:pPr algn="l"/>
                      <a:r>
                        <a:rPr sz="1400" b="0" i="0" u="none" dirty="0">
                          <a:solidFill>
                            <a:srgbClr val="1E293B"/>
                          </a:solidFill>
                          <a:latin typeface="JetBrains Mono"/>
                        </a:rPr>
                        <a:t>20 - </a:t>
                      </a:r>
                      <a:r>
                        <a:rPr lang="en-US" sz="1400" b="0" i="0" u="none" dirty="0">
                          <a:solidFill>
                            <a:srgbClr val="1E293B"/>
                          </a:solidFill>
                          <a:latin typeface="JetBrains Mono"/>
                        </a:rPr>
                        <a:t>30</a:t>
                      </a:r>
                      <a:endParaRPr sz="1400" b="0" i="0" u="none" dirty="0">
                        <a:solidFill>
                          <a:srgbClr val="1E293B"/>
                        </a:solidFill>
                        <a:latin typeface="JetBrains Mono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 u="none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JetBrains Mono"/>
                        </a:rPr>
                        <a:t>0000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i="0" u="none" dirty="0">
                          <a:solidFill>
                            <a:srgbClr val="1E293B"/>
                          </a:solidFill>
                          <a:latin typeface="Plus Jakarta Sans"/>
                        </a:rPr>
                        <a:t>ADD (a + b)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 u="none">
                          <a:solidFill>
                            <a:srgbClr val="1E293B"/>
                          </a:solidFill>
                          <a:latin typeface="JetBrains Mono"/>
                        </a:rPr>
                        <a:t>5, 3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 u="none">
                          <a:solidFill>
                            <a:srgbClr val="1E293B"/>
                          </a:solidFill>
                          <a:latin typeface="JetBrains Mono"/>
                        </a:rPr>
                        <a:t>08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 u="none">
                          <a:solidFill>
                            <a:srgbClr val="1E293B"/>
                          </a:solidFill>
                          <a:latin typeface="JetBrains Mono"/>
                        </a:rPr>
                        <a:t>0 0 1 1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Signed overflow (+5 + +3 = +8 -&gt; negative).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460"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30 - 40</a:t>
                      </a:r>
                      <a:endParaRPr sz="1400" b="0" i="0" u="none" dirty="0">
                        <a:solidFill>
                          <a:srgbClr val="1E293B"/>
                        </a:solidFill>
                        <a:latin typeface="JetBrains Mono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 u="none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JetBrains Mono"/>
                        </a:rPr>
                        <a:t>000</a:t>
                      </a:r>
                      <a:r>
                        <a:rPr lang="en-US" sz="1400" b="0" i="0" u="none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JetBrains Mono"/>
                        </a:rPr>
                        <a:t>0</a:t>
                      </a:r>
                      <a:endParaRPr sz="1400" b="0" i="0" u="none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  <a:latin typeface="JetBrains Mono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/>
                        <a:t>ADD (a + b)</a:t>
                      </a:r>
                      <a:endParaRPr sz="1400" b="1" i="0" u="none" dirty="0">
                        <a:solidFill>
                          <a:srgbClr val="1E293B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15, 1</a:t>
                      </a:r>
                      <a:endParaRPr sz="1400" b="0" i="0" u="none" dirty="0">
                        <a:solidFill>
                          <a:srgbClr val="1E293B"/>
                        </a:solidFill>
                        <a:latin typeface="JetBrains Mono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00</a:t>
                      </a:r>
                      <a:endParaRPr sz="1400" b="0" i="0" u="none" dirty="0">
                        <a:solidFill>
                          <a:srgbClr val="1E293B"/>
                        </a:solidFill>
                        <a:latin typeface="JetBrains Mono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1 1 0 0</a:t>
                      </a:r>
                      <a:endParaRPr sz="1400" b="0" i="0" u="none" dirty="0">
                        <a:solidFill>
                          <a:srgbClr val="1E293B"/>
                        </a:solidFill>
                        <a:latin typeface="JetBrains Mono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Unsigned wrap-around, Carry=1, Zero=1.</a:t>
                      </a:r>
                      <a:endParaRPr sz="1400" b="0" i="0" u="none" dirty="0">
                        <a:solidFill>
                          <a:srgbClr val="1E293B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460"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40 - 50</a:t>
                      </a:r>
                      <a:endParaRPr sz="1400" b="0" i="0" u="none" dirty="0">
                        <a:solidFill>
                          <a:srgbClr val="1E293B"/>
                        </a:solidFill>
                        <a:latin typeface="JetBrains Mono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0001</a:t>
                      </a:r>
                      <a:endParaRPr sz="1400" b="0" i="0" u="none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  <a:latin typeface="JetBrains Mono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/>
                        <a:t>SUB (a - b)</a:t>
                      </a:r>
                      <a:endParaRPr sz="1400" b="1" i="0" u="none" dirty="0">
                        <a:solidFill>
                          <a:srgbClr val="1E293B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5, 3</a:t>
                      </a:r>
                      <a:endParaRPr sz="1400" b="0" i="0" u="none" dirty="0">
                        <a:solidFill>
                          <a:srgbClr val="1E293B"/>
                        </a:solidFill>
                        <a:latin typeface="JetBrains Mono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02</a:t>
                      </a:r>
                      <a:endParaRPr sz="1400" b="0" i="0" u="none" dirty="0">
                        <a:solidFill>
                          <a:srgbClr val="1E293B"/>
                        </a:solidFill>
                        <a:latin typeface="JetBrains Mono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1 0 0 0</a:t>
                      </a:r>
                      <a:endParaRPr sz="1400" b="0" i="0" u="none" dirty="0">
                        <a:solidFill>
                          <a:srgbClr val="1E293B"/>
                        </a:solidFill>
                        <a:latin typeface="JetBrains Mono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Carry=1 indicates no borrow (positive result).</a:t>
                      </a:r>
                      <a:endParaRPr sz="1400" b="0" i="0" u="none" dirty="0">
                        <a:solidFill>
                          <a:srgbClr val="1E293B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460"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50 - 60</a:t>
                      </a:r>
                      <a:endParaRPr sz="1400" b="0" i="0" u="none" dirty="0">
                        <a:solidFill>
                          <a:srgbClr val="1E293B"/>
                        </a:solidFill>
                        <a:latin typeface="JetBrains Mono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0001</a:t>
                      </a:r>
                      <a:endParaRPr sz="1400" b="0" i="0" u="none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  <a:latin typeface="JetBrains Mono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/>
                        <a:t>SUB (a - b)</a:t>
                      </a:r>
                      <a:endParaRPr sz="1400" b="1" i="0" u="none" dirty="0">
                        <a:solidFill>
                          <a:srgbClr val="1E293B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3, 5</a:t>
                      </a:r>
                      <a:endParaRPr sz="1400" b="0" i="0" u="none" dirty="0">
                        <a:solidFill>
                          <a:srgbClr val="1E293B"/>
                        </a:solidFill>
                        <a:latin typeface="JetBrains Mono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0E</a:t>
                      </a:r>
                      <a:endParaRPr sz="1400" b="0" i="0" u="none" dirty="0">
                        <a:solidFill>
                          <a:srgbClr val="1E293B"/>
                        </a:solidFill>
                        <a:latin typeface="JetBrains Mono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0 0 0 1</a:t>
                      </a:r>
                      <a:endParaRPr sz="1400" b="0" i="0" u="none" dirty="0">
                        <a:solidFill>
                          <a:srgbClr val="1E293B"/>
                        </a:solidFill>
                        <a:latin typeface="JetBrains Mono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Negative result (3 - 5 = -2 in 2's comp), Carry=0 (borrow).</a:t>
                      </a:r>
                      <a:endParaRPr sz="1400" b="0" i="0" u="none" dirty="0">
                        <a:solidFill>
                          <a:srgbClr val="1E293B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465"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60 - 180</a:t>
                      </a:r>
                      <a:endParaRPr sz="1400" b="0" i="0" u="none" dirty="0">
                        <a:solidFill>
                          <a:srgbClr val="1E293B"/>
                        </a:solidFill>
                        <a:latin typeface="JetBrains Mono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0010-0111</a:t>
                      </a:r>
                      <a:endParaRPr sz="1400" b="0" i="0" u="none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  <a:latin typeface="JetBrains Mono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/>
                        <a:t>LOGIC &amp; SHIFT</a:t>
                      </a:r>
                      <a:endParaRPr sz="1400" b="1" i="0" u="none" dirty="0">
                        <a:solidFill>
                          <a:srgbClr val="1E293B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Var</a:t>
                      </a:r>
                      <a:endParaRPr sz="1400" b="0" i="0" u="none" dirty="0">
                        <a:solidFill>
                          <a:srgbClr val="1E293B"/>
                        </a:solidFill>
                        <a:latin typeface="JetBrains Mono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[Data]</a:t>
                      </a:r>
                      <a:endParaRPr sz="1400" b="0" i="0" u="none" dirty="0">
                        <a:solidFill>
                          <a:srgbClr val="1E293B"/>
                        </a:solidFill>
                        <a:latin typeface="JetBrains Mono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x </a:t>
                      </a:r>
                      <a:r>
                        <a:rPr lang="en-US" sz="1400" dirty="0" err="1"/>
                        <a:t>x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x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x</a:t>
                      </a:r>
                      <a:endParaRPr sz="1400" b="0" i="0" u="none" dirty="0">
                        <a:solidFill>
                          <a:srgbClr val="1E293B"/>
                        </a:solidFill>
                        <a:latin typeface="JetBrains Mono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Combinational AND, OR, XOR, NOT, SHL, SHR.</a:t>
                      </a:r>
                      <a:endParaRPr sz="1400" b="0" i="0" u="none" dirty="0">
                        <a:solidFill>
                          <a:srgbClr val="1E293B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0465"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180 - 235</a:t>
                      </a:r>
                      <a:endParaRPr sz="1400" b="0" i="0" u="none" dirty="0">
                        <a:solidFill>
                          <a:srgbClr val="1E293B"/>
                        </a:solidFill>
                        <a:latin typeface="JetBrains Mono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1000</a:t>
                      </a:r>
                      <a:endParaRPr sz="1400" b="0" i="0" u="none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  <a:latin typeface="JetBrains Mono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/>
                        <a:t>MUL (a * b)</a:t>
                      </a:r>
                      <a:endParaRPr sz="1400" b="1" i="0" u="none" dirty="0">
                        <a:solidFill>
                          <a:srgbClr val="1E293B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13, 11</a:t>
                      </a:r>
                      <a:endParaRPr sz="1400" b="0" i="0" u="none" dirty="0">
                        <a:solidFill>
                          <a:srgbClr val="1E293B"/>
                        </a:solidFill>
                        <a:latin typeface="JetBrains Mono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8F (143)</a:t>
                      </a:r>
                      <a:endParaRPr sz="1400" b="0" i="0" u="none" dirty="0">
                        <a:solidFill>
                          <a:srgbClr val="1E293B"/>
                        </a:solidFill>
                        <a:latin typeface="JetBrains Mono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0 0 0 0</a:t>
                      </a:r>
                      <a:endParaRPr sz="1400" b="0" i="0" u="none" dirty="0">
                        <a:solidFill>
                          <a:srgbClr val="1E293B"/>
                        </a:solidFill>
                        <a:latin typeface="JetBrains Mono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busy=1</a:t>
                      </a:r>
                      <a:r>
                        <a:rPr lang="en-US" sz="1400" dirty="0"/>
                        <a:t> for 4 clock cycles, latched at </a:t>
                      </a:r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done=1</a:t>
                      </a:r>
                      <a:r>
                        <a:rPr lang="en-US" sz="1400" dirty="0"/>
                        <a:t>.</a:t>
                      </a:r>
                      <a:endParaRPr sz="1400" b="0" i="0" u="none" dirty="0">
                        <a:solidFill>
                          <a:srgbClr val="1E293B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6419076"/>
                  </a:ext>
                </a:extLst>
              </a:tr>
              <a:tr h="420465"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245 - 385</a:t>
                      </a:r>
                      <a:endParaRPr sz="1400" b="0" i="0" u="none" dirty="0">
                        <a:solidFill>
                          <a:srgbClr val="1E293B"/>
                        </a:solidFill>
                        <a:latin typeface="JetBrains Mono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1001</a:t>
                      </a:r>
                      <a:endParaRPr sz="1400" b="0" i="0" u="none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  <a:latin typeface="JetBrains Mono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/>
                        <a:t>DIV &amp; DIV_0</a:t>
                      </a:r>
                      <a:endParaRPr sz="1400" b="1" i="0" u="none" dirty="0">
                        <a:solidFill>
                          <a:srgbClr val="1E293B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13, 4</a:t>
                      </a:r>
                      <a:r>
                        <a:rPr lang="en-US" sz="1400" dirty="0"/>
                        <a:t> / </a:t>
                      </a:r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9, 0</a:t>
                      </a:r>
                      <a:endParaRPr sz="1400" b="0" i="0" u="none" dirty="0">
                        <a:solidFill>
                          <a:srgbClr val="1E293B"/>
                        </a:solidFill>
                        <a:latin typeface="JetBrains Mono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13h</a:t>
                      </a:r>
                      <a:r>
                        <a:rPr lang="en-US" sz="1400" dirty="0"/>
                        <a:t> / Hold</a:t>
                      </a:r>
                      <a:endParaRPr sz="1400" b="0" i="0" u="none" dirty="0">
                        <a:solidFill>
                          <a:srgbClr val="1E293B"/>
                        </a:solidFill>
                        <a:latin typeface="JetBrains Mono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0 0 0 0</a:t>
                      </a:r>
                      <a:endParaRPr sz="1400" b="0" i="0" u="none" dirty="0">
                        <a:solidFill>
                          <a:srgbClr val="1E293B"/>
                        </a:solidFill>
                        <a:latin typeface="JetBrains Mono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Valid quotient=3, remainder=1; </a:t>
                      </a:r>
                      <a:r>
                        <a:rPr lang="en-US" sz="14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div_by_zero</a:t>
                      </a:r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=1</a:t>
                      </a:r>
                      <a:r>
                        <a:rPr lang="en-US" sz="1400" dirty="0"/>
                        <a:t> on 9/0.</a:t>
                      </a:r>
                      <a:endParaRPr sz="1400" b="0" i="0" u="none" dirty="0">
                        <a:solidFill>
                          <a:srgbClr val="1E293B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2844139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09600" y="40005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PART C • WAVEFORM CORRELATION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6675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Simulation Truth Table &amp; Status Flag Behavior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B31958A-C83F-3CA7-2D64-A5BC47AF27B1}"/>
              </a:ext>
            </a:extLst>
          </p:cNvPr>
          <p:cNvSpPr txBox="1"/>
          <p:nvPr/>
        </p:nvSpPr>
        <p:spPr>
          <a:xfrm>
            <a:off x="522150" y="1004501"/>
            <a:ext cx="609702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BED7FF"/>
                </a:solidFill>
              </a:defRPr>
            </a:pPr>
            <a:r>
              <a:rPr lang="fr-FR" sz="1200" dirty="0">
                <a:solidFill>
                  <a:schemeClr val="tx2"/>
                </a:solidFill>
              </a:rPr>
              <a:t>P1 Project: ALU_4bit_SE190570| </a:t>
            </a:r>
            <a:r>
              <a:rPr lang="fr-FR" sz="1200" dirty="0" err="1">
                <a:solidFill>
                  <a:schemeClr val="tx2"/>
                </a:solidFill>
              </a:rPr>
              <a:t>Tran</a:t>
            </a:r>
            <a:r>
              <a:rPr lang="fr-FR" sz="1200" dirty="0">
                <a:solidFill>
                  <a:schemeClr val="tx2"/>
                </a:solidFill>
              </a:rPr>
              <a:t> Quan Bao (SE190570) | AMD </a:t>
            </a:r>
            <a:r>
              <a:rPr lang="fr-FR" sz="1200" dirty="0" err="1">
                <a:solidFill>
                  <a:schemeClr val="tx2"/>
                </a:solidFill>
              </a:rPr>
              <a:t>Xilinx</a:t>
            </a:r>
            <a:r>
              <a:rPr lang="fr-FR" sz="1200" dirty="0">
                <a:solidFill>
                  <a:schemeClr val="tx2"/>
                </a:solidFill>
              </a:rPr>
              <a:t> </a:t>
            </a:r>
            <a:r>
              <a:rPr lang="fr-FR" sz="1200" dirty="0" err="1">
                <a:solidFill>
                  <a:schemeClr val="tx2"/>
                </a:solidFill>
              </a:rPr>
              <a:t>Vivado</a:t>
            </a:r>
            <a:r>
              <a:rPr lang="fr-FR" sz="1200" dirty="0">
                <a:solidFill>
                  <a:schemeClr val="tx2"/>
                </a:solidFill>
              </a:rPr>
              <a:t> 2026.1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137767"/>
            <a:ext cx="5806380" cy="3477815"/>
          </a:xfrm>
          <a:prstGeom prst="roundRect">
            <a:avLst>
              <a:gd name="adj" fmla="val 438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STEP 1 (EVIDENCE F1) • PROJECT SETUP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Project Creation &amp; RTL Hierarchy Synthesis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42567"/>
            <a:ext cx="6820774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Vivado Project Flow Explanation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871192"/>
            <a:ext cx="649597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284C7"/>
                </a:solidFill>
                <a:latin typeface="Plus Jakarta Sans"/>
              </a:rPr>
              <a:t>1. ACTION TAKEN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090267"/>
            <a:ext cx="5292030" cy="4231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50" b="0" i="0" u="none" dirty="0">
                <a:solidFill>
                  <a:srgbClr val="334155"/>
                </a:solidFill>
                <a:latin typeface="Plus Jakarta Sans"/>
              </a:rPr>
              <a:t>Initialized target project for AMD Artix-7</a:t>
            </a:r>
            <a:r>
              <a:rPr lang="en-US" sz="1350" b="0" i="0" u="none" dirty="0">
                <a:solidFill>
                  <a:srgbClr val="334155"/>
                </a:solidFill>
                <a:latin typeface="Plus Jakarta Sans"/>
              </a:rPr>
              <a:t> </a:t>
            </a:r>
            <a:r>
              <a:rPr lang="en-US" sz="1400" dirty="0"/>
              <a:t>(xc7a35tcpg236-1)</a:t>
            </a:r>
            <a:r>
              <a:rPr sz="1350" b="0" i="0" u="none" dirty="0">
                <a:solidFill>
                  <a:srgbClr val="334155"/>
                </a:solidFill>
                <a:latin typeface="Plus Jakarta Sans"/>
              </a:rPr>
              <a:t> and linked all top/submodule Verilog source files.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741539"/>
            <a:ext cx="649597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284C7"/>
                </a:solidFill>
                <a:latin typeface="Plus Jakarta Sans"/>
              </a:rPr>
              <a:t>2. OBSERVED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960614"/>
            <a:ext cx="529203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50" b="0" i="0" u="none" dirty="0">
                <a:solidFill>
                  <a:srgbClr val="334155"/>
                </a:solidFill>
                <a:latin typeface="Plus Jakarta Sans"/>
              </a:rPr>
              <a:t>Project Manager tree resolved top-level entity</a:t>
            </a:r>
            <a:r>
              <a:rPr lang="en-US" sz="1350" b="0" i="0" u="none" dirty="0">
                <a:solidFill>
                  <a:srgbClr val="334155"/>
                </a:solidFill>
                <a:latin typeface="Plus Jakarta Sans"/>
              </a:rPr>
              <a:t> </a:t>
            </a:r>
            <a:r>
              <a:rPr lang="en-US" sz="1400" dirty="0"/>
              <a:t>and 7 nested submodules</a:t>
            </a:r>
          </a:p>
          <a:p>
            <a:r>
              <a:rPr lang="en-US" sz="1400" dirty="0"/>
              <a:t>with 0 errors/warnings</a:t>
            </a:r>
            <a:endParaRPr sz="1350" b="0" i="0" u="none" dirty="0">
              <a:solidFill>
                <a:srgbClr val="334155"/>
              </a:solidFill>
              <a:latin typeface="Plus Jakarta San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14400" y="4611885"/>
            <a:ext cx="649597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284C7"/>
                </a:solidFill>
                <a:latin typeface="Plus Jakarta Sans"/>
              </a:rPr>
              <a:t>3. TECHNICAL SIGNIFICANCE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830960"/>
            <a:ext cx="5292030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334155"/>
                </a:solidFill>
                <a:latin typeface="Plus Jakarta Sans"/>
              </a:rPr>
              <a:t>Valid port mapping across 30 I/O pins established for clean elaboration and synthesis.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87BB02BA-7DA8-818C-170D-06B9D5302F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6589" y="704850"/>
            <a:ext cx="4535607" cy="491073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F685F0D-45E6-B04A-AE54-7931F60AE2D3}"/>
              </a:ext>
            </a:extLst>
          </p:cNvPr>
          <p:cNvSpPr txBox="1"/>
          <p:nvPr/>
        </p:nvSpPr>
        <p:spPr>
          <a:xfrm>
            <a:off x="609263" y="1113608"/>
            <a:ext cx="609702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BED7FF"/>
                </a:solidFill>
              </a:defRPr>
            </a:pPr>
            <a:r>
              <a:rPr lang="fr-FR" sz="1200" dirty="0">
                <a:solidFill>
                  <a:schemeClr val="tx2"/>
                </a:solidFill>
              </a:rPr>
              <a:t>P1 Project: ALU_4bit_SE190570| </a:t>
            </a:r>
            <a:r>
              <a:rPr lang="fr-FR" sz="1200" dirty="0" err="1">
                <a:solidFill>
                  <a:schemeClr val="tx2"/>
                </a:solidFill>
              </a:rPr>
              <a:t>Tran</a:t>
            </a:r>
            <a:r>
              <a:rPr lang="fr-FR" sz="1200" dirty="0">
                <a:solidFill>
                  <a:schemeClr val="tx2"/>
                </a:solidFill>
              </a:rPr>
              <a:t> Quan Bao (SE190570) | AMD </a:t>
            </a:r>
            <a:r>
              <a:rPr lang="fr-FR" sz="1200" dirty="0" err="1">
                <a:solidFill>
                  <a:schemeClr val="tx2"/>
                </a:solidFill>
              </a:rPr>
              <a:t>Xilinx</a:t>
            </a:r>
            <a:r>
              <a:rPr lang="fr-FR" sz="1200" dirty="0">
                <a:solidFill>
                  <a:schemeClr val="tx2"/>
                </a:solidFill>
              </a:rPr>
              <a:t> </a:t>
            </a:r>
            <a:r>
              <a:rPr lang="fr-FR" sz="1200" dirty="0" err="1">
                <a:solidFill>
                  <a:schemeClr val="tx2"/>
                </a:solidFill>
              </a:rPr>
              <a:t>Vivado</a:t>
            </a:r>
            <a:r>
              <a:rPr lang="fr-FR" sz="1200" dirty="0">
                <a:solidFill>
                  <a:schemeClr val="tx2"/>
                </a:solidFill>
              </a:rPr>
              <a:t> 2026.1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137767"/>
            <a:ext cx="5806380" cy="3477815"/>
          </a:xfrm>
          <a:prstGeom prst="roundRect">
            <a:avLst>
              <a:gd name="adj" fmla="val 438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682680" y="2858541"/>
            <a:ext cx="4899719" cy="2036266"/>
          </a:xfrm>
          <a:prstGeom prst="roundRect">
            <a:avLst>
              <a:gd name="adj" fmla="val 7484"/>
            </a:avLst>
          </a:prstGeom>
          <a:solidFill>
            <a:srgbClr val="FFFFFF"/>
          </a:solidFill>
          <a:ln w="190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STEP 2 (EVIDENCE F2) • RTL ELABORATION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Schematic Elaboration &amp; Vivado Linter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42567"/>
            <a:ext cx="6820774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Elaboration &amp; Static Linting 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871192"/>
            <a:ext cx="649597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284C7"/>
                </a:solidFill>
                <a:latin typeface="Plus Jakarta Sans"/>
              </a:rPr>
              <a:t>1. ACTION TAKEN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090267"/>
            <a:ext cx="5292030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334155"/>
                </a:solidFill>
                <a:latin typeface="Plus Jakarta Sans"/>
              </a:rPr>
              <a:t>Extracted gate-level schematic netlist from RTL code and executed Vivado static lint rules.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741539"/>
            <a:ext cx="649597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284C7"/>
                </a:solidFill>
                <a:latin typeface="Plus Jakarta Sans"/>
              </a:rPr>
              <a:t>2. OBSERVED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960614"/>
            <a:ext cx="529203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400" dirty="0"/>
              <a:t>Resolved top-level interconnects (12 Cells, 30 I/O Ports, 96 Nets) linking 7 functional submodules without errors.</a:t>
            </a:r>
            <a:endParaRPr sz="1350" b="0" i="0" u="none" dirty="0">
              <a:solidFill>
                <a:srgbClr val="334155"/>
              </a:solidFill>
              <a:latin typeface="Plus Jakarta San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14400" y="4611885"/>
            <a:ext cx="649597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284C7"/>
                </a:solidFill>
                <a:latin typeface="Plus Jakarta Sans"/>
              </a:rPr>
              <a:t>3. TECHNICAL SIGNIFICANCE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830960"/>
            <a:ext cx="5292030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334155"/>
                </a:solidFill>
                <a:latin typeface="Plus Jakarta Sans"/>
              </a:rPr>
              <a:t>Zero unintended latches inferred; clean combinational paths and sequential clock domains.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F458CE3-2BDA-B539-2EB5-C3E9530A12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1230" y="2137767"/>
            <a:ext cx="5458685" cy="347781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2047157-0EFA-4B66-8480-045C095DCADD}"/>
              </a:ext>
            </a:extLst>
          </p:cNvPr>
          <p:cNvSpPr txBox="1"/>
          <p:nvPr/>
        </p:nvSpPr>
        <p:spPr>
          <a:xfrm>
            <a:off x="522150" y="1049386"/>
            <a:ext cx="609702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BED7FF"/>
                </a:solidFill>
              </a:defRPr>
            </a:pPr>
            <a:r>
              <a:rPr lang="fr-FR" sz="1200" dirty="0">
                <a:solidFill>
                  <a:schemeClr val="tx2"/>
                </a:solidFill>
              </a:rPr>
              <a:t>P1 Project: ALU_4bit_SE190570| </a:t>
            </a:r>
            <a:r>
              <a:rPr lang="fr-FR" sz="1200" dirty="0" err="1">
                <a:solidFill>
                  <a:schemeClr val="tx2"/>
                </a:solidFill>
              </a:rPr>
              <a:t>Tran</a:t>
            </a:r>
            <a:r>
              <a:rPr lang="fr-FR" sz="1200" dirty="0">
                <a:solidFill>
                  <a:schemeClr val="tx2"/>
                </a:solidFill>
              </a:rPr>
              <a:t> Quan Bao (SE190570) | AMD </a:t>
            </a:r>
            <a:r>
              <a:rPr lang="fr-FR" sz="1200" dirty="0" err="1">
                <a:solidFill>
                  <a:schemeClr val="tx2"/>
                </a:solidFill>
              </a:rPr>
              <a:t>Xilinx</a:t>
            </a:r>
            <a:r>
              <a:rPr lang="fr-FR" sz="1200" dirty="0">
                <a:solidFill>
                  <a:schemeClr val="tx2"/>
                </a:solidFill>
              </a:rPr>
              <a:t> </a:t>
            </a:r>
            <a:r>
              <a:rPr lang="fr-FR" sz="1200" dirty="0" err="1">
                <a:solidFill>
                  <a:schemeClr val="tx2"/>
                </a:solidFill>
              </a:rPr>
              <a:t>Vivado</a:t>
            </a:r>
            <a:r>
              <a:rPr lang="fr-FR" sz="1200" dirty="0">
                <a:solidFill>
                  <a:schemeClr val="tx2"/>
                </a:solidFill>
              </a:rPr>
              <a:t> 2026.1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137767"/>
            <a:ext cx="5806380" cy="3477815"/>
          </a:xfrm>
          <a:prstGeom prst="roundRect">
            <a:avLst>
              <a:gd name="adj" fmla="val 438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STEP 3 (EVIDENCE F3) • WAVEFORM SIMULATION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704850"/>
            <a:ext cx="8692893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en-US" sz="2400" b="1" dirty="0"/>
              <a:t>Waveform Simulation: Combinational Operations &amp; Flag Verification</a:t>
            </a:r>
            <a:endParaRPr sz="2400" b="1" i="0" u="none" dirty="0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14400" y="2442567"/>
            <a:ext cx="6820774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Combinational Verification 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871192"/>
            <a:ext cx="649597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284C7"/>
                </a:solidFill>
                <a:latin typeface="Plus Jakarta Sans"/>
              </a:rPr>
              <a:t>1. ACTION TAKEN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090267"/>
            <a:ext cx="5292030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334155"/>
                </a:solidFill>
                <a:latin typeface="Plus Jakarta Sans"/>
              </a:rPr>
              <a:t>Ran behavioral simulation in Vivado XSim across arithmetic, bitwise, and shift opcodes (0 to 7).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741539"/>
            <a:ext cx="649597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284C7"/>
                </a:solidFill>
                <a:latin typeface="Plus Jakarta Sans"/>
              </a:rPr>
              <a:t>2. OBSERVED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960614"/>
            <a:ext cx="5292030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334155"/>
                </a:solidFill>
                <a:latin typeface="Plus Jakarta Sans"/>
              </a:rPr>
              <a:t>Zero-delay response across all outputs with arithmetic flags strictly matching golden equations.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611885"/>
            <a:ext cx="649597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284C7"/>
                </a:solidFill>
                <a:latin typeface="Plus Jakarta Sans"/>
              </a:rPr>
              <a:t>3. TECHNICAL SIGNIFICANCE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830960"/>
            <a:ext cx="5292030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334155"/>
                </a:solidFill>
                <a:latin typeface="Plus Jakarta Sans"/>
              </a:rPr>
              <a:t>Verified 2's complement subtraction and signed overflow detection without glitching.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7EEC90A6-3440-F556-C372-B6CBC938F2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5980" y="1890169"/>
            <a:ext cx="5248685" cy="378647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5704F28-0A10-3C08-6B37-83709DDF6937}"/>
              </a:ext>
            </a:extLst>
          </p:cNvPr>
          <p:cNvSpPr txBox="1"/>
          <p:nvPr/>
        </p:nvSpPr>
        <p:spPr>
          <a:xfrm>
            <a:off x="522150" y="1020574"/>
            <a:ext cx="609702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BED7FF"/>
                </a:solidFill>
              </a:defRPr>
            </a:pPr>
            <a:r>
              <a:rPr lang="fr-FR" sz="1200" dirty="0">
                <a:solidFill>
                  <a:schemeClr val="tx2"/>
                </a:solidFill>
              </a:rPr>
              <a:t>P1 Project: ALU_4bit_SE190570| </a:t>
            </a:r>
            <a:r>
              <a:rPr lang="fr-FR" sz="1200" dirty="0" err="1">
                <a:solidFill>
                  <a:schemeClr val="tx2"/>
                </a:solidFill>
              </a:rPr>
              <a:t>Tran</a:t>
            </a:r>
            <a:r>
              <a:rPr lang="fr-FR" sz="1200" dirty="0">
                <a:solidFill>
                  <a:schemeClr val="tx2"/>
                </a:solidFill>
              </a:rPr>
              <a:t> Quan Bao (SE190570) | AMD </a:t>
            </a:r>
            <a:r>
              <a:rPr lang="fr-FR" sz="1200" dirty="0" err="1">
                <a:solidFill>
                  <a:schemeClr val="tx2"/>
                </a:solidFill>
              </a:rPr>
              <a:t>Xilinx</a:t>
            </a:r>
            <a:r>
              <a:rPr lang="fr-FR" sz="1200" dirty="0">
                <a:solidFill>
                  <a:schemeClr val="tx2"/>
                </a:solidFill>
              </a:rPr>
              <a:t> </a:t>
            </a:r>
            <a:r>
              <a:rPr lang="fr-FR" sz="1200" dirty="0" err="1">
                <a:solidFill>
                  <a:schemeClr val="tx2"/>
                </a:solidFill>
              </a:rPr>
              <a:t>Vivado</a:t>
            </a:r>
            <a:r>
              <a:rPr lang="fr-FR" sz="1200" dirty="0">
                <a:solidFill>
                  <a:schemeClr val="tx2"/>
                </a:solidFill>
              </a:rPr>
              <a:t> 2026.1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133004"/>
            <a:ext cx="5806380" cy="3487340"/>
          </a:xfrm>
          <a:prstGeom prst="roundRect">
            <a:avLst>
              <a:gd name="adj" fmla="val 437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2895023" cy="1692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sz="1050" b="1" i="0" u="none" dirty="0">
                <a:solidFill>
                  <a:schemeClr val="tx2">
                    <a:lumMod val="60000"/>
                    <a:lumOff val="40000"/>
                  </a:schemeClr>
                </a:solidFill>
                <a:latin typeface="Plus Jakarta Sans"/>
              </a:rPr>
              <a:t>STEP 4 (EVIDENCE F4) • </a:t>
            </a:r>
            <a:r>
              <a:rPr lang="en-US" sz="11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TCL CONSOLE VALIDATION</a:t>
            </a:r>
            <a:endParaRPr sz="1050" b="1" i="0" u="none" dirty="0">
              <a:solidFill>
                <a:schemeClr val="tx2">
                  <a:lumMod val="60000"/>
                  <a:lumOff val="40000"/>
                </a:schemeClr>
              </a:solidFill>
              <a:latin typeface="Plus Jakarta San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09600" y="704850"/>
            <a:ext cx="7070654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en-US" sz="2400" b="1" dirty="0" err="1"/>
              <a:t>Vivado</a:t>
            </a:r>
            <a:r>
              <a:rPr lang="en-US" sz="2400" b="1" dirty="0"/>
              <a:t> </a:t>
            </a:r>
            <a:r>
              <a:rPr lang="en-US" sz="2400" b="1" dirty="0" err="1"/>
              <a:t>Tcl</a:t>
            </a:r>
            <a:r>
              <a:rPr lang="en-US" sz="2400" b="1" dirty="0"/>
              <a:t> Console &amp; Automated Testbench PASS Result</a:t>
            </a:r>
            <a:endParaRPr sz="2400" b="1" i="0" u="none" dirty="0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14400" y="2437804"/>
            <a:ext cx="3336234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en-US" sz="1600" dirty="0"/>
              <a:t>Automated Verification &amp; Log Validation</a:t>
            </a:r>
            <a:endParaRPr sz="1500" b="1" i="0" u="none" dirty="0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14400" y="2866429"/>
            <a:ext cx="649597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284C7"/>
                </a:solidFill>
                <a:latin typeface="Plus Jakarta Sans"/>
              </a:rPr>
              <a:t>1. ACTION TAKEN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085504"/>
            <a:ext cx="529203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400" dirty="0"/>
              <a:t>Executed exhaustive self-checking testbench (alu_4bit_tb.v) in </a:t>
            </a:r>
            <a:r>
              <a:rPr lang="en-US" sz="1400" dirty="0" err="1"/>
              <a:t>Vivado</a:t>
            </a:r>
            <a:r>
              <a:rPr lang="en-US" sz="1400" dirty="0"/>
              <a:t> </a:t>
            </a:r>
            <a:r>
              <a:rPr lang="en-US" sz="1400" dirty="0" err="1"/>
              <a:t>XSim</a:t>
            </a:r>
            <a:r>
              <a:rPr lang="en-US" sz="1400" dirty="0"/>
              <a:t> covering single-cycle and sequential operations.</a:t>
            </a:r>
            <a:endParaRPr sz="1350" b="0" i="0" u="none" dirty="0">
              <a:solidFill>
                <a:srgbClr val="334155"/>
              </a:solidFill>
              <a:latin typeface="Plus Jakarta San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14399" y="3612952"/>
            <a:ext cx="649597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 dirty="0">
                <a:solidFill>
                  <a:srgbClr val="0284C7"/>
                </a:solidFill>
                <a:latin typeface="Plus Jakarta Sans"/>
              </a:rPr>
              <a:t>2. OBSERVED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27483"/>
            <a:ext cx="5292030" cy="6463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400" dirty="0"/>
              <a:t>Console printed verified sample outputs alongside personal watermark (TRAN QUAN BAO - SE190570) and logged "PASS: 3584 single-cycle checks + 512 MUL/DIV checks, 0 errors".</a:t>
            </a:r>
            <a:endParaRPr sz="1400" b="0" i="0" u="none" dirty="0">
              <a:solidFill>
                <a:srgbClr val="334155"/>
              </a:solidFill>
              <a:latin typeface="Plus Jakarta San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14400" y="4616648"/>
            <a:ext cx="649597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 dirty="0">
                <a:solidFill>
                  <a:srgbClr val="0284C7"/>
                </a:solidFill>
                <a:latin typeface="Plus Jakarta Sans"/>
              </a:rPr>
              <a:t>3. TECHNICAL SIGNIFICANCE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835723"/>
            <a:ext cx="529203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400" dirty="0"/>
              <a:t>Validates 100% functional test coverage across 4,096 automated verification vectors with zero arithmetic or state machine flaws.</a:t>
            </a:r>
            <a:endParaRPr sz="1350" b="0" i="0" u="none" dirty="0">
              <a:solidFill>
                <a:srgbClr val="334155"/>
              </a:solidFill>
              <a:latin typeface="Plus Jakarta Sans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010A6F7-257C-67AF-F5E4-1B942FE3B4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127665"/>
            <a:ext cx="5353325" cy="349267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4DEC0ED-8967-7952-0FDC-39CC8BBECBBD}"/>
              </a:ext>
            </a:extLst>
          </p:cNvPr>
          <p:cNvSpPr txBox="1"/>
          <p:nvPr/>
        </p:nvSpPr>
        <p:spPr>
          <a:xfrm>
            <a:off x="522150" y="1082903"/>
            <a:ext cx="609702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BED7FF"/>
                </a:solidFill>
              </a:defRPr>
            </a:pPr>
            <a:r>
              <a:rPr lang="fr-FR" sz="1200" dirty="0">
                <a:solidFill>
                  <a:schemeClr val="tx2"/>
                </a:solidFill>
              </a:rPr>
              <a:t>P1 Project: ALU_4bit_SE190570| </a:t>
            </a:r>
            <a:r>
              <a:rPr lang="fr-FR" sz="1200" dirty="0" err="1">
                <a:solidFill>
                  <a:schemeClr val="tx2"/>
                </a:solidFill>
              </a:rPr>
              <a:t>Tran</a:t>
            </a:r>
            <a:r>
              <a:rPr lang="fr-FR" sz="1200" dirty="0">
                <a:solidFill>
                  <a:schemeClr val="tx2"/>
                </a:solidFill>
              </a:rPr>
              <a:t> Quan Bao (SE190570) | AMD </a:t>
            </a:r>
            <a:r>
              <a:rPr lang="fr-FR" sz="1200" dirty="0" err="1">
                <a:solidFill>
                  <a:schemeClr val="tx2"/>
                </a:solidFill>
              </a:rPr>
              <a:t>Xilinx</a:t>
            </a:r>
            <a:r>
              <a:rPr lang="fr-FR" sz="1200" dirty="0">
                <a:solidFill>
                  <a:schemeClr val="tx2"/>
                </a:solidFill>
              </a:rPr>
              <a:t> </a:t>
            </a:r>
            <a:r>
              <a:rPr lang="fr-FR" sz="1200" dirty="0" err="1">
                <a:solidFill>
                  <a:schemeClr val="tx2"/>
                </a:solidFill>
              </a:rPr>
              <a:t>Vivado</a:t>
            </a:r>
            <a:r>
              <a:rPr lang="fr-FR" sz="1200" dirty="0">
                <a:solidFill>
                  <a:schemeClr val="tx2"/>
                </a:solidFill>
              </a:rPr>
              <a:t> 2026.1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E6BF08-A5B0-33D1-C515-1AACE39285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A01BD989-760F-2A30-539E-2DC55602D388}"/>
              </a:ext>
            </a:extLst>
          </p:cNvPr>
          <p:cNvSpPr/>
          <p:nvPr/>
        </p:nvSpPr>
        <p:spPr>
          <a:xfrm>
            <a:off x="609600" y="2133004"/>
            <a:ext cx="5806380" cy="3487340"/>
          </a:xfrm>
          <a:prstGeom prst="roundRect">
            <a:avLst>
              <a:gd name="adj" fmla="val 437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103549-1C39-0A85-3615-13E290484A65}"/>
              </a:ext>
            </a:extLst>
          </p:cNvPr>
          <p:cNvSpPr txBox="1"/>
          <p:nvPr/>
        </p:nvSpPr>
        <p:spPr>
          <a:xfrm>
            <a:off x="609600" y="457200"/>
            <a:ext cx="2353208" cy="1692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sz="1050" b="1" i="0" u="none" dirty="0">
                <a:solidFill>
                  <a:schemeClr val="tx2">
                    <a:lumMod val="60000"/>
                    <a:lumOff val="40000"/>
                  </a:schemeClr>
                </a:solidFill>
                <a:latin typeface="Plus Jakarta Sans"/>
              </a:rPr>
              <a:t>STEP </a:t>
            </a:r>
            <a:r>
              <a:rPr lang="en-US" sz="1050" b="1" i="0" u="none" dirty="0">
                <a:solidFill>
                  <a:schemeClr val="tx2">
                    <a:lumMod val="60000"/>
                    <a:lumOff val="40000"/>
                  </a:schemeClr>
                </a:solidFill>
                <a:latin typeface="Plus Jakarta Sans"/>
              </a:rPr>
              <a:t>5</a:t>
            </a:r>
            <a:r>
              <a:rPr sz="1050" b="1" i="0" u="none" dirty="0">
                <a:solidFill>
                  <a:schemeClr val="tx2">
                    <a:lumMod val="60000"/>
                    <a:lumOff val="40000"/>
                  </a:schemeClr>
                </a:solidFill>
                <a:latin typeface="Plus Jakarta Sans"/>
              </a:rPr>
              <a:t> (EVIDENCE F</a:t>
            </a:r>
            <a:r>
              <a:rPr lang="en-US" sz="1050" b="1" i="0" u="none" dirty="0">
                <a:solidFill>
                  <a:schemeClr val="tx2">
                    <a:lumMod val="60000"/>
                    <a:lumOff val="40000"/>
                  </a:schemeClr>
                </a:solidFill>
                <a:latin typeface="Plus Jakarta Sans"/>
              </a:rPr>
              <a:t>5</a:t>
            </a:r>
            <a:r>
              <a:rPr sz="1050" b="1" i="0" u="none" dirty="0">
                <a:solidFill>
                  <a:schemeClr val="tx2">
                    <a:lumMod val="60000"/>
                    <a:lumOff val="40000"/>
                  </a:schemeClr>
                </a:solidFill>
                <a:latin typeface="Plus Jakarta Sans"/>
              </a:rPr>
              <a:t>) • </a:t>
            </a:r>
            <a:r>
              <a:rPr lang="en-US" sz="11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LOGIC SYNTHESIS</a:t>
            </a:r>
            <a:endParaRPr sz="1050" b="1" i="0" u="none" dirty="0">
              <a:solidFill>
                <a:schemeClr val="tx2">
                  <a:lumMod val="60000"/>
                  <a:lumOff val="40000"/>
                </a:schemeClr>
              </a:solidFill>
              <a:latin typeface="Plus Jakarta San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39FD2EA-4587-9A46-4488-072DA4DDF308}"/>
              </a:ext>
            </a:extLst>
          </p:cNvPr>
          <p:cNvSpPr txBox="1"/>
          <p:nvPr/>
        </p:nvSpPr>
        <p:spPr>
          <a:xfrm>
            <a:off x="609600" y="704850"/>
            <a:ext cx="5432577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en-US" sz="2400" b="1" dirty="0"/>
              <a:t>RTL Logic Synthesis &amp; Technology Mapping</a:t>
            </a:r>
            <a:endParaRPr sz="2400" b="1" i="0" u="none" dirty="0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DBFADB-D686-D1D3-30A4-898157675104}"/>
              </a:ext>
            </a:extLst>
          </p:cNvPr>
          <p:cNvSpPr txBox="1"/>
          <p:nvPr/>
        </p:nvSpPr>
        <p:spPr>
          <a:xfrm>
            <a:off x="914400" y="2437804"/>
            <a:ext cx="3645806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en-US" sz="1600" dirty="0"/>
              <a:t>Logic Synthesis &amp; Technology Mapping Flow</a:t>
            </a:r>
            <a:endParaRPr sz="1500" b="1" i="0" u="none" dirty="0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C519E97-6E2F-08ED-97B8-8007CC34024F}"/>
              </a:ext>
            </a:extLst>
          </p:cNvPr>
          <p:cNvSpPr txBox="1"/>
          <p:nvPr/>
        </p:nvSpPr>
        <p:spPr>
          <a:xfrm>
            <a:off x="914400" y="2866429"/>
            <a:ext cx="649597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284C7"/>
                </a:solidFill>
                <a:latin typeface="Plus Jakarta Sans"/>
              </a:rPr>
              <a:t>1. ACTION TAKEN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9C7C2FB-6FDC-23CC-EC4A-FC87B7FDE2DA}"/>
              </a:ext>
            </a:extLst>
          </p:cNvPr>
          <p:cNvSpPr txBox="1"/>
          <p:nvPr/>
        </p:nvSpPr>
        <p:spPr>
          <a:xfrm>
            <a:off x="914400" y="3085504"/>
            <a:ext cx="529203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400" dirty="0"/>
              <a:t>Ran </a:t>
            </a:r>
            <a:r>
              <a:rPr lang="en-US" sz="1400" dirty="0" err="1"/>
              <a:t>Vivado</a:t>
            </a:r>
            <a:r>
              <a:rPr lang="en-US" sz="1400" dirty="0"/>
              <a:t> Logic Synthesis targeting AMD Artix-7 (xc7a35tcpg236-1) with </a:t>
            </a:r>
            <a:r>
              <a:rPr lang="en-US" sz="1400" dirty="0" err="1"/>
              <a:t>Vivado</a:t>
            </a:r>
            <a:r>
              <a:rPr lang="en-US" sz="1400" dirty="0"/>
              <a:t> Synthesis Defaults strategy.</a:t>
            </a:r>
            <a:endParaRPr sz="1350" b="0" i="0" u="none" dirty="0">
              <a:solidFill>
                <a:srgbClr val="334155"/>
              </a:solidFill>
              <a:latin typeface="Plus Jakarta San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6293F06-E4E6-3542-611E-3132D0AAE448}"/>
              </a:ext>
            </a:extLst>
          </p:cNvPr>
          <p:cNvSpPr txBox="1"/>
          <p:nvPr/>
        </p:nvSpPr>
        <p:spPr>
          <a:xfrm>
            <a:off x="914399" y="3612952"/>
            <a:ext cx="649597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 dirty="0">
                <a:solidFill>
                  <a:srgbClr val="0284C7"/>
                </a:solidFill>
                <a:latin typeface="Plus Jakarta Sans"/>
              </a:rPr>
              <a:t>2. OBSERVED EVIDENCE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7DC15EA-A3F7-1610-9970-5CBFB0C00B0F}"/>
              </a:ext>
            </a:extLst>
          </p:cNvPr>
          <p:cNvSpPr txBox="1"/>
          <p:nvPr/>
        </p:nvSpPr>
        <p:spPr>
          <a:xfrm>
            <a:off x="914400" y="3827483"/>
            <a:ext cx="529203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400" dirty="0"/>
              <a:t>Generated post-synthesis gate-level netlist consisting of 32 Cells, 30 I/O Ports, and 61 Nets with status "</a:t>
            </a:r>
            <a:r>
              <a:rPr lang="en-US" sz="1400" dirty="0" err="1"/>
              <a:t>synth_design</a:t>
            </a:r>
            <a:r>
              <a:rPr lang="en-US" sz="1400" dirty="0"/>
              <a:t> Complete!".</a:t>
            </a:r>
            <a:endParaRPr sz="1400" b="0" i="0" u="none" dirty="0">
              <a:solidFill>
                <a:srgbClr val="334155"/>
              </a:solidFill>
              <a:latin typeface="Plus Jakarta San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0B0EB67-98EE-B086-8359-C9521F749984}"/>
              </a:ext>
            </a:extLst>
          </p:cNvPr>
          <p:cNvSpPr txBox="1"/>
          <p:nvPr/>
        </p:nvSpPr>
        <p:spPr>
          <a:xfrm>
            <a:off x="914400" y="4616648"/>
            <a:ext cx="649597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 dirty="0">
                <a:solidFill>
                  <a:srgbClr val="0284C7"/>
                </a:solidFill>
                <a:latin typeface="Plus Jakarta Sans"/>
              </a:rPr>
              <a:t>3. TECHNICAL SIGNIFICANCE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57C5EE2-7DBF-963F-E812-A5C8D94DF9E7}"/>
              </a:ext>
            </a:extLst>
          </p:cNvPr>
          <p:cNvSpPr txBox="1"/>
          <p:nvPr/>
        </p:nvSpPr>
        <p:spPr>
          <a:xfrm>
            <a:off x="914400" y="4835723"/>
            <a:ext cx="5292030" cy="6463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400" dirty="0"/>
              <a:t>RTL descriptions successfully mapped to physical Xilinx hardware primitives: IBUF/OBUF pin buffers, 6-input LUTs for </a:t>
            </a:r>
            <a:r>
              <a:rPr lang="en-US" sz="1400" dirty="0" err="1"/>
              <a:t>datapath</a:t>
            </a:r>
            <a:r>
              <a:rPr lang="en-US" sz="1400" dirty="0"/>
              <a:t> logic, and FDRE registers for sequential control.</a:t>
            </a:r>
            <a:endParaRPr sz="1350" b="0" i="0" u="none" dirty="0">
              <a:solidFill>
                <a:srgbClr val="334155"/>
              </a:solidFill>
              <a:latin typeface="Plus Jakarta San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4B3406B-F23B-FD18-A940-AD8857C444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6430" y="2022276"/>
            <a:ext cx="5134585" cy="359806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F715463-403D-DC34-D424-B0464171A6C3}"/>
              </a:ext>
            </a:extLst>
          </p:cNvPr>
          <p:cNvSpPr txBox="1"/>
          <p:nvPr/>
        </p:nvSpPr>
        <p:spPr>
          <a:xfrm>
            <a:off x="522150" y="1113608"/>
            <a:ext cx="609702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BED7FF"/>
                </a:solidFill>
              </a:defRPr>
            </a:pPr>
            <a:r>
              <a:rPr lang="fr-FR" sz="1200" dirty="0">
                <a:solidFill>
                  <a:schemeClr val="tx2"/>
                </a:solidFill>
              </a:rPr>
              <a:t>P1 Project: ALU_4bit_SE190570| </a:t>
            </a:r>
            <a:r>
              <a:rPr lang="fr-FR" sz="1200" dirty="0" err="1">
                <a:solidFill>
                  <a:schemeClr val="tx2"/>
                </a:solidFill>
              </a:rPr>
              <a:t>Tran</a:t>
            </a:r>
            <a:r>
              <a:rPr lang="fr-FR" sz="1200" dirty="0">
                <a:solidFill>
                  <a:schemeClr val="tx2"/>
                </a:solidFill>
              </a:rPr>
              <a:t> Quan Bao (SE190570) | AMD </a:t>
            </a:r>
            <a:r>
              <a:rPr lang="fr-FR" sz="1200" dirty="0" err="1">
                <a:solidFill>
                  <a:schemeClr val="tx2"/>
                </a:solidFill>
              </a:rPr>
              <a:t>Xilinx</a:t>
            </a:r>
            <a:r>
              <a:rPr lang="fr-FR" sz="1200" dirty="0">
                <a:solidFill>
                  <a:schemeClr val="tx2"/>
                </a:solidFill>
              </a:rPr>
              <a:t> </a:t>
            </a:r>
            <a:r>
              <a:rPr lang="fr-FR" sz="1200" dirty="0" err="1">
                <a:solidFill>
                  <a:schemeClr val="tx2"/>
                </a:solidFill>
              </a:rPr>
              <a:t>Vivado</a:t>
            </a:r>
            <a:r>
              <a:rPr lang="fr-FR" sz="1200" dirty="0">
                <a:solidFill>
                  <a:schemeClr val="tx2"/>
                </a:solidFill>
              </a:rPr>
              <a:t> 2026.1</a:t>
            </a:r>
          </a:p>
        </p:txBody>
      </p:sp>
    </p:spTree>
    <p:extLst>
      <p:ext uri="{BB962C8B-B14F-4D97-AF65-F5344CB8AC3E}">
        <p14:creationId xmlns:p14="http://schemas.microsoft.com/office/powerpoint/2010/main" val="40331188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708844"/>
            <a:ext cx="6278909" cy="4335512"/>
          </a:xfrm>
          <a:prstGeom prst="roundRect">
            <a:avLst>
              <a:gd name="adj" fmla="val 351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14400" y="4794944"/>
            <a:ext cx="5669309" cy="944612"/>
          </a:xfrm>
          <a:prstGeom prst="roundRect">
            <a:avLst>
              <a:gd name="adj" fmla="val 10083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5822078"/>
              </p:ext>
            </p:extLst>
          </p:nvPr>
        </p:nvGraphicFramePr>
        <p:xfrm>
          <a:off x="914400" y="2013644"/>
          <a:ext cx="5669309" cy="2546084"/>
        </p:xfrm>
        <a:graphic>
          <a:graphicData uri="http://schemas.openxmlformats.org/drawingml/2006/table">
            <a:tbl>
              <a:tblPr/>
              <a:tblGrid>
                <a:gridCol w="235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65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70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36521">
                <a:tc>
                  <a:txBody>
                    <a:bodyPr/>
                    <a:lstStyle/>
                    <a:p>
                      <a:pPr algn="l"/>
                      <a:r>
                        <a:rPr sz="1125" b="1" i="0" u="none" dirty="0">
                          <a:solidFill>
                            <a:srgbClr val="64748B"/>
                          </a:solidFill>
                          <a:latin typeface="Plus Jakarta Sans"/>
                        </a:rPr>
                        <a:t>FPGA Resource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Used / Available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Utilization 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6521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Slice LUTs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60 / 20,800</a:t>
                      </a:r>
                      <a:endParaRPr sz="1350" b="0" i="0" u="none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  <a:latin typeface="JetBrains Mono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0.29%</a:t>
                      </a:r>
                      <a:endParaRPr sz="1350" b="1" i="0" u="none" dirty="0">
                        <a:solidFill>
                          <a:srgbClr val="0F172A"/>
                        </a:solidFill>
                        <a:latin typeface="JetBrains Mono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6521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Flip-Flops (FF)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18 / 41,600</a:t>
                      </a:r>
                      <a:endParaRPr sz="1350" b="0" i="0" u="none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  <a:latin typeface="JetBrains Mono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0.04%</a:t>
                      </a:r>
                      <a:endParaRPr sz="1350" b="1" i="0" u="none" dirty="0">
                        <a:solidFill>
                          <a:srgbClr val="0F172A"/>
                        </a:solidFill>
                        <a:latin typeface="JetBrains Mono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6521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Bonded IOBs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30 / 106</a:t>
                      </a:r>
                      <a:endParaRPr sz="1350" b="0" i="0" u="none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  <a:latin typeface="JetBrains Mono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28.30%</a:t>
                      </a:r>
                      <a:endParaRPr sz="1350" b="1" i="0" u="none" dirty="0">
                        <a:solidFill>
                          <a:srgbClr val="0284C7"/>
                        </a:solidFill>
                        <a:latin typeface="JetBrains Mono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09600" y="457200"/>
            <a:ext cx="2946319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0284C7"/>
                </a:solidFill>
                <a:latin typeface="Plus Jakarta Sans"/>
              </a:rPr>
              <a:t>STEP </a:t>
            </a:r>
            <a:r>
              <a:rPr lang="en-US" sz="1050" b="1" i="0" u="none" dirty="0">
                <a:solidFill>
                  <a:srgbClr val="0284C7"/>
                </a:solidFill>
                <a:latin typeface="Plus Jakarta Sans"/>
              </a:rPr>
              <a:t>6</a:t>
            </a:r>
            <a:r>
              <a:rPr sz="1050" b="1" i="0" u="none" dirty="0">
                <a:solidFill>
                  <a:srgbClr val="0284C7"/>
                </a:solidFill>
                <a:latin typeface="Plus Jakarta Sans"/>
              </a:rPr>
              <a:t> (EVIDENCE F</a:t>
            </a:r>
            <a:r>
              <a:rPr lang="en-US" sz="1050" b="1" i="0" u="none" dirty="0">
                <a:solidFill>
                  <a:srgbClr val="0284C7"/>
                </a:solidFill>
                <a:latin typeface="Plus Jakarta Sans"/>
              </a:rPr>
              <a:t>6</a:t>
            </a:r>
            <a:r>
              <a:rPr sz="1050" b="1" i="0" u="none" dirty="0">
                <a:solidFill>
                  <a:srgbClr val="0284C7"/>
                </a:solidFill>
                <a:latin typeface="Plus Jakarta Sans"/>
              </a:rPr>
              <a:t>) • PHYSICAL IMPLEMENTATION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Hardware Synthesis &amp; Resource Utilization Report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6800" y="4947344"/>
            <a:ext cx="5459759" cy="6398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200" b="1" i="0" u="none">
                <a:solidFill>
                  <a:srgbClr val="0F172A"/>
                </a:solidFill>
                <a:latin typeface="Plus Jakarta Sans"/>
              </a:rPr>
              <a:t>Design Takeaway:</a:t>
            </a:r>
            <a:r>
              <a:rPr sz="1200" b="0" i="0" u="none">
                <a:solidFill>
                  <a:srgbClr val="334155"/>
                </a:solidFill>
                <a:latin typeface="Plus Jakarta Sans"/>
              </a:rPr>
              <a:t> The resource-shared adder architecture dramatically cuts LUT consumption compared to designs implementing dedicated arithmetic sub-blocks.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2D75751-E4E7-5E40-9925-71E146123C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1553" y="1708844"/>
            <a:ext cx="4747456" cy="403071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0A183B1-C627-1C4B-AFE7-6FBBE7202804}"/>
              </a:ext>
            </a:extLst>
          </p:cNvPr>
          <p:cNvSpPr txBox="1"/>
          <p:nvPr/>
        </p:nvSpPr>
        <p:spPr>
          <a:xfrm>
            <a:off x="522150" y="1113608"/>
            <a:ext cx="609702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BED7FF"/>
                </a:solidFill>
              </a:defRPr>
            </a:pPr>
            <a:r>
              <a:rPr lang="fr-FR" sz="1200" dirty="0">
                <a:solidFill>
                  <a:schemeClr val="tx2"/>
                </a:solidFill>
              </a:rPr>
              <a:t>P1 Project: ALU_4bit_SE190570| </a:t>
            </a:r>
            <a:r>
              <a:rPr lang="fr-FR" sz="1200" dirty="0" err="1">
                <a:solidFill>
                  <a:schemeClr val="tx2"/>
                </a:solidFill>
              </a:rPr>
              <a:t>Tran</a:t>
            </a:r>
            <a:r>
              <a:rPr lang="fr-FR" sz="1200" dirty="0">
                <a:solidFill>
                  <a:schemeClr val="tx2"/>
                </a:solidFill>
              </a:rPr>
              <a:t> Quan Bao (SE190570) | AMD </a:t>
            </a:r>
            <a:r>
              <a:rPr lang="fr-FR" sz="1200" dirty="0" err="1">
                <a:solidFill>
                  <a:schemeClr val="tx2"/>
                </a:solidFill>
              </a:rPr>
              <a:t>Xilinx</a:t>
            </a:r>
            <a:r>
              <a:rPr lang="fr-FR" sz="1200" dirty="0">
                <a:solidFill>
                  <a:schemeClr val="tx2"/>
                </a:solidFill>
              </a:rPr>
              <a:t> </a:t>
            </a:r>
            <a:r>
              <a:rPr lang="fr-FR" sz="1200" dirty="0" err="1">
                <a:solidFill>
                  <a:schemeClr val="tx2"/>
                </a:solidFill>
              </a:rPr>
              <a:t>Vivado</a:t>
            </a:r>
            <a:r>
              <a:rPr lang="fr-FR" sz="1200" dirty="0">
                <a:solidFill>
                  <a:schemeClr val="tx2"/>
                </a:solidFill>
              </a:rPr>
              <a:t> 2026.1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5514826"/>
            <a:ext cx="10972800" cy="8096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9629775" y="700087"/>
            <a:ext cx="1952625" cy="32385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2418457"/>
            <a:ext cx="2571750" cy="1868537"/>
          </a:xfrm>
          <a:prstGeom prst="roundRect">
            <a:avLst>
              <a:gd name="adj" fmla="val 7136"/>
            </a:avLst>
          </a:prstGeom>
          <a:solidFill>
            <a:srgbClr val="13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3409950" y="2418457"/>
            <a:ext cx="2571750" cy="1868537"/>
          </a:xfrm>
          <a:prstGeom prst="roundRect">
            <a:avLst>
              <a:gd name="adj" fmla="val 7136"/>
            </a:avLst>
          </a:prstGeom>
          <a:solidFill>
            <a:srgbClr val="13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210300" y="2418457"/>
            <a:ext cx="2571750" cy="1868537"/>
          </a:xfrm>
          <a:prstGeom prst="roundRect">
            <a:avLst>
              <a:gd name="adj" fmla="val 7136"/>
            </a:avLst>
          </a:prstGeom>
          <a:solidFill>
            <a:srgbClr val="13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010650" y="2418457"/>
            <a:ext cx="2571750" cy="1868537"/>
          </a:xfrm>
          <a:prstGeom prst="roundRect">
            <a:avLst>
              <a:gd name="adj" fmla="val 7136"/>
            </a:avLst>
          </a:prstGeom>
          <a:solidFill>
            <a:srgbClr val="13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09600" y="5514826"/>
            <a:ext cx="109728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647057"/>
            <a:ext cx="342900" cy="3429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8550" y="2647057"/>
            <a:ext cx="342900" cy="3429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8900" y="2647057"/>
            <a:ext cx="342900" cy="3429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0" y="2647057"/>
            <a:ext cx="342900" cy="3429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9400" y="5752951"/>
            <a:ext cx="1143000" cy="5715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975" y="2742307"/>
            <a:ext cx="133350" cy="1524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33800" y="2742307"/>
            <a:ext cx="152400" cy="1524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4150" y="2742307"/>
            <a:ext cx="152400" cy="1524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44025" y="2742307"/>
            <a:ext cx="133350" cy="1524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09600" y="533400"/>
            <a:ext cx="2487861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38BDF8"/>
                </a:solidFill>
                <a:latin typeface="Plus Jakarta Sans"/>
              </a:rPr>
              <a:t>STEP </a:t>
            </a:r>
            <a:r>
              <a:rPr lang="en-US" sz="1050" b="1" i="0" u="none" dirty="0">
                <a:solidFill>
                  <a:srgbClr val="38BDF8"/>
                </a:solidFill>
                <a:latin typeface="Plus Jakarta Sans"/>
              </a:rPr>
              <a:t>7</a:t>
            </a:r>
            <a:r>
              <a:rPr sz="1050" b="1" i="0" u="none" dirty="0">
                <a:solidFill>
                  <a:srgbClr val="38BDF8"/>
                </a:solidFill>
                <a:latin typeface="Plus Jakarta Sans"/>
              </a:rPr>
              <a:t> (EVIDENCE F</a:t>
            </a:r>
            <a:r>
              <a:rPr lang="en-US" sz="1050" b="1" i="0" u="none" dirty="0">
                <a:solidFill>
                  <a:srgbClr val="38BDF8"/>
                </a:solidFill>
                <a:latin typeface="Plus Jakarta Sans"/>
              </a:rPr>
              <a:t>7</a:t>
            </a:r>
            <a:r>
              <a:rPr sz="1050" b="1" i="0" u="none" dirty="0">
                <a:solidFill>
                  <a:srgbClr val="38BDF8"/>
                </a:solidFill>
                <a:latin typeface="Plus Jakarta Sans"/>
              </a:rPr>
              <a:t>) &amp; PROJECT SUMMARY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762000"/>
            <a:ext cx="5911170" cy="43088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Project Conclusions &amp; Key Achievements</a:t>
            </a:r>
            <a:endParaRPr sz="2700" b="1" i="0" u="none" dirty="0">
              <a:solidFill>
                <a:schemeClr val="bg1"/>
              </a:solidFill>
              <a:latin typeface="Plus Jakarta San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801225" y="776287"/>
            <a:ext cx="2012156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F8FAFC"/>
                </a:solidFill>
                <a:latin typeface="Plus Jakarta Sans"/>
              </a:rPr>
              <a:t>SUBMISSION COMPLETE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200" y="3123307"/>
            <a:ext cx="2775346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1F5F9"/>
                </a:solidFill>
                <a:latin typeface="Plus Jakarta Sans"/>
              </a:rPr>
              <a:t>Gate-Level RTL Design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200" y="3418582"/>
            <a:ext cx="220980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Integrated all 7 hierarchical submodules from ground-up structural logic.</a:t>
            </a:r>
            <a:endParaRPr sz="1200" b="0" i="0" u="none" dirty="0">
              <a:solidFill>
                <a:schemeClr val="bg1"/>
              </a:solidFill>
              <a:latin typeface="Plus Jakarta San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638550" y="3123307"/>
            <a:ext cx="2775346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1F5F9"/>
                </a:solidFill>
                <a:latin typeface="Plus Jakarta Sans"/>
              </a:rPr>
              <a:t>Resource Sharing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38550" y="3418582"/>
            <a:ext cx="2209800" cy="6398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200" b="0" i="0" u="none">
                <a:solidFill>
                  <a:srgbClr val="94A3B8"/>
                </a:solidFill>
                <a:latin typeface="Plus Jakarta Sans"/>
              </a:rPr>
              <a:t>Adder-sharing datapath reduced silicon utilization to an ultra-compact 60 LUTs.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38900" y="3123307"/>
            <a:ext cx="2775346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1F5F9"/>
                </a:solidFill>
                <a:latin typeface="Plus Jakarta Sans"/>
              </a:rPr>
              <a:t>Automated Verification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38900" y="3418582"/>
            <a:ext cx="2209800" cy="6398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200" b="0" i="0" u="none">
                <a:solidFill>
                  <a:srgbClr val="94A3B8"/>
                </a:solidFill>
                <a:latin typeface="Plus Jakarta Sans"/>
              </a:rPr>
              <a:t>Self-checking testbench confirmed 100% test coverage with zero errors.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9250" y="3123307"/>
            <a:ext cx="2775346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1F5F9"/>
                </a:solidFill>
                <a:latin typeface="Plus Jakarta Sans"/>
              </a:rPr>
              <a:t>Vivado Flow Executed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39250" y="3418582"/>
            <a:ext cx="220980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Completed </a:t>
            </a:r>
            <a:r>
              <a:rPr lang="en-US" sz="1200" dirty="0" err="1">
                <a:solidFill>
                  <a:schemeClr val="bg1"/>
                </a:solidFill>
              </a:rPr>
              <a:t>Vivado</a:t>
            </a:r>
            <a:r>
              <a:rPr lang="en-US" sz="1200" dirty="0">
                <a:solidFill>
                  <a:schemeClr val="bg1"/>
                </a:solidFill>
              </a:rPr>
              <a:t> design flow through logic synthesis and resource mapping on Artix-7.</a:t>
            </a:r>
            <a:endParaRPr sz="1200" b="0" i="0" u="none" dirty="0">
              <a:solidFill>
                <a:schemeClr val="bg1"/>
              </a:solidFill>
              <a:latin typeface="Plus Jakarta San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09600" y="5776763"/>
            <a:ext cx="5313164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F8FAFC"/>
                </a:solidFill>
                <a:latin typeface="Plus Jakarta Sans"/>
              </a:rPr>
              <a:t>Thank You for Your Time &amp; Attention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E813742-B4FC-A071-0C18-F9FA27DCD850}"/>
              </a:ext>
            </a:extLst>
          </p:cNvPr>
          <p:cNvSpPr txBox="1"/>
          <p:nvPr/>
        </p:nvSpPr>
        <p:spPr>
          <a:xfrm>
            <a:off x="522150" y="1149637"/>
            <a:ext cx="609702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BED7FF"/>
                </a:solidFill>
              </a:defRPr>
            </a:pPr>
            <a:r>
              <a:rPr lang="fr-FR" sz="1200" dirty="0">
                <a:solidFill>
                  <a:schemeClr val="bg1"/>
                </a:solidFill>
              </a:rPr>
              <a:t>P1 Project: ALU_4bit_SE190570| </a:t>
            </a:r>
            <a:r>
              <a:rPr lang="fr-FR" sz="1200" dirty="0" err="1">
                <a:solidFill>
                  <a:schemeClr val="bg1"/>
                </a:solidFill>
              </a:rPr>
              <a:t>Tran</a:t>
            </a:r>
            <a:r>
              <a:rPr lang="fr-FR" sz="1200" dirty="0">
                <a:solidFill>
                  <a:schemeClr val="bg1"/>
                </a:solidFill>
              </a:rPr>
              <a:t> Quan Bao (SE190570) | AMD </a:t>
            </a:r>
            <a:r>
              <a:rPr lang="fr-FR" sz="1200" dirty="0" err="1">
                <a:solidFill>
                  <a:schemeClr val="bg1"/>
                </a:solidFill>
              </a:rPr>
              <a:t>Xilinx</a:t>
            </a:r>
            <a:r>
              <a:rPr lang="fr-FR" sz="1200" dirty="0">
                <a:solidFill>
                  <a:schemeClr val="bg1"/>
                </a:solidFill>
              </a:rPr>
              <a:t> </a:t>
            </a:r>
            <a:r>
              <a:rPr lang="fr-FR" sz="1200" dirty="0" err="1">
                <a:solidFill>
                  <a:schemeClr val="bg1"/>
                </a:solidFill>
              </a:rPr>
              <a:t>Vivado</a:t>
            </a:r>
            <a:r>
              <a:rPr lang="fr-FR" sz="1200" dirty="0">
                <a:solidFill>
                  <a:schemeClr val="bg1"/>
                </a:solidFill>
              </a:rPr>
              <a:t> 2026.1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237</TotalTime>
  <Words>1949</Words>
  <Application>Microsoft Office PowerPoint</Application>
  <PresentationFormat>Widescreen</PresentationFormat>
  <Paragraphs>239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Aptos</vt:lpstr>
      <vt:lpstr>Plus Jakarta Sans</vt:lpstr>
      <vt:lpstr>Calibri</vt:lpstr>
      <vt:lpstr>JetBrains Mono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baobao</dc:creator>
  <cp:keywords/>
  <dc:description>generated using python-pptx</dc:description>
  <cp:lastModifiedBy>Quân Bảo</cp:lastModifiedBy>
  <cp:revision>8</cp:revision>
  <dcterms:created xsi:type="dcterms:W3CDTF">2013-01-27T09:14:16Z</dcterms:created>
  <dcterms:modified xsi:type="dcterms:W3CDTF">2026-10-04T07:57:14Z</dcterms:modified>
  <cp:category/>
</cp:coreProperties>
</file>